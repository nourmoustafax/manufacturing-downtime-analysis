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imes New Roman Bold Italics" charset="1" panose="02020703060505090304"/>
      <p:regular r:id="rId29"/>
    </p:embeddedFont>
    <p:embeddedFont>
      <p:font typeface="Times New Roman" charset="1" panose="02020603050405020304"/>
      <p:regular r:id="rId30"/>
    </p:embeddedFont>
    <p:embeddedFont>
      <p:font typeface="Pattanakarn SemiCondensed Semi-Bold" charset="1" panose="00000000000000000000"/>
      <p:regular r:id="rId31"/>
    </p:embeddedFont>
    <p:embeddedFont>
      <p:font typeface="Roboto" charset="1" panose="02000000000000000000"/>
      <p:regular r:id="rId32"/>
    </p:embeddedFont>
    <p:embeddedFont>
      <p:font typeface="Pattanakarn Bold" charset="1" panose="00000000000000000000"/>
      <p:regular r:id="rId33"/>
    </p:embeddedFont>
    <p:embeddedFont>
      <p:font typeface="Roboto Bold" charset="1" panose="02000000000000000000"/>
      <p:regular r:id="rId34"/>
    </p:embeddedFont>
    <p:embeddedFont>
      <p:font typeface="Pattanakarn SemiCondensed" charset="1" panose="00000000000000000000"/>
      <p:regular r:id="rId35"/>
    </p:embeddedFont>
    <p:embeddedFont>
      <p:font typeface="Roboto Bold Italics" charset="1" panose="02000000000000000000"/>
      <p:regular r:id="rId36"/>
    </p:embeddedFont>
    <p:embeddedFont>
      <p:font typeface="Pattanakarn SemiCondensed Bold" charset="1" panose="00000000000000000000"/>
      <p:regular r:id="rId37"/>
    </p:embeddedFont>
    <p:embeddedFont>
      <p:font typeface="Roboto Italics" charset="1" panose="02000000000000000000"/>
      <p:regular r:id="rId38"/>
    </p:embeddedFont>
    <p:embeddedFont>
      <p:font typeface="Canva Sans" charset="1" panose="020B0503030501040103"/>
      <p:regular r:id="rId39"/>
    </p:embeddedFont>
    <p:embeddedFont>
      <p:font typeface="Times New Roman Bold" charset="1" panose="020208030705050203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Relationship Id="rId5" Target="../media/VAHO73J1hjY.mp4" Type="http://schemas.openxmlformats.org/officeDocument/2006/relationships/video"/><Relationship Id="rId6" Target="../media/VAHO73J1hjY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5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83329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0" y="3134115"/>
            <a:ext cx="18288000" cy="11605283"/>
            <a:chOff x="0" y="0"/>
            <a:chExt cx="4816593" cy="30565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056535"/>
            </a:xfrm>
            <a:custGeom>
              <a:avLst/>
              <a:gdLst/>
              <a:ahLst/>
              <a:cxnLst/>
              <a:rect r="r" b="b" t="t" l="l"/>
              <a:pathLst>
                <a:path h="30565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056535"/>
                  </a:lnTo>
                  <a:lnTo>
                    <a:pt x="0" y="305653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309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0">
            <a:off x="9506598" y="3134115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0" y="10001905"/>
                </a:moveTo>
                <a:lnTo>
                  <a:pt x="15115531" y="10001905"/>
                </a:lnTo>
                <a:lnTo>
                  <a:pt x="15115531" y="0"/>
                </a:lnTo>
                <a:lnTo>
                  <a:pt x="0" y="0"/>
                </a:lnTo>
                <a:lnTo>
                  <a:pt x="0" y="10001905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40676" y="8668855"/>
            <a:ext cx="5221808" cy="1044362"/>
          </a:xfrm>
          <a:custGeom>
            <a:avLst/>
            <a:gdLst/>
            <a:ahLst/>
            <a:cxnLst/>
            <a:rect r="r" b="b" t="t" l="l"/>
            <a:pathLst>
              <a:path h="1044362" w="5221808">
                <a:moveTo>
                  <a:pt x="0" y="0"/>
                </a:moveTo>
                <a:lnTo>
                  <a:pt x="5221807" y="0"/>
                </a:lnTo>
                <a:lnTo>
                  <a:pt x="5221807" y="1044362"/>
                </a:lnTo>
                <a:lnTo>
                  <a:pt x="0" y="1044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34597" y="5647729"/>
            <a:ext cx="10018805" cy="422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3"/>
              </a:lnSpc>
            </a:pPr>
            <a:r>
              <a:rPr lang="en-US" b="true" sz="4016" i="true" u="sng">
                <a:solidFill>
                  <a:srgbClr val="FFFFFF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Presented by:</a:t>
            </a:r>
          </a:p>
          <a:p>
            <a:pPr algn="ctr">
              <a:lnSpc>
                <a:spcPts val="4004"/>
              </a:lnSpc>
              <a:spcBef>
                <a:spcPct val="0"/>
              </a:spcBef>
            </a:pPr>
            <a:r>
              <a:rPr lang="en-US" sz="286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6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oureldin Mostafa Galal</a:t>
            </a:r>
          </a:p>
          <a:p>
            <a:pPr algn="ctr">
              <a:lnSpc>
                <a:spcPts val="4004"/>
              </a:lnSpc>
              <a:spcBef>
                <a:spcPct val="0"/>
              </a:spcBef>
            </a:pPr>
            <a:r>
              <a:rPr lang="en-US" sz="286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Mona Abdelrhman Mostafa</a:t>
            </a:r>
          </a:p>
          <a:p>
            <a:pPr algn="ctr">
              <a:lnSpc>
                <a:spcPts val="4004"/>
              </a:lnSpc>
              <a:spcBef>
                <a:spcPct val="0"/>
              </a:spcBef>
            </a:pPr>
            <a:r>
              <a:rPr lang="en-US" sz="286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Farah Aksam Ibrahim</a:t>
            </a:r>
          </a:p>
          <a:p>
            <a:pPr algn="ctr">
              <a:lnSpc>
                <a:spcPts val="4004"/>
              </a:lnSpc>
              <a:spcBef>
                <a:spcPct val="0"/>
              </a:spcBef>
            </a:pPr>
            <a:r>
              <a:rPr lang="en-US" sz="286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Toka Ramadan Mohamed</a:t>
            </a:r>
          </a:p>
          <a:p>
            <a:pPr algn="ctr">
              <a:lnSpc>
                <a:spcPts val="4004"/>
              </a:lnSpc>
              <a:spcBef>
                <a:spcPct val="0"/>
              </a:spcBef>
            </a:pPr>
            <a:r>
              <a:rPr lang="en-US" sz="286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Mina Sameh Ibrahim</a:t>
            </a:r>
          </a:p>
          <a:p>
            <a:pPr algn="ctr">
              <a:lnSpc>
                <a:spcPts val="4004"/>
              </a:lnSpc>
              <a:spcBef>
                <a:spcPct val="0"/>
              </a:spcBef>
            </a:pPr>
            <a:r>
              <a:rPr lang="en-US" sz="286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Mostafa Mortada Mohamed</a:t>
            </a:r>
          </a:p>
          <a:p>
            <a:pPr algn="ctr">
              <a:lnSpc>
                <a:spcPts val="37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12514" y="1264046"/>
            <a:ext cx="3093289" cy="618658"/>
          </a:xfrm>
          <a:custGeom>
            <a:avLst/>
            <a:gdLst/>
            <a:ahLst/>
            <a:cxnLst/>
            <a:rect r="r" b="b" t="t" l="l"/>
            <a:pathLst>
              <a:path h="618658" w="3093289">
                <a:moveTo>
                  <a:pt x="0" y="0"/>
                </a:moveTo>
                <a:lnTo>
                  <a:pt x="3093290" y="0"/>
                </a:lnTo>
                <a:lnTo>
                  <a:pt x="3093290" y="618658"/>
                </a:lnTo>
                <a:lnTo>
                  <a:pt x="0" y="618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634" t="531" r="0" b="102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060108" cy="8229600"/>
            <a:chOff x="0" y="0"/>
            <a:chExt cx="1859452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59452" cy="2167467"/>
            </a:xfrm>
            <a:custGeom>
              <a:avLst/>
              <a:gdLst/>
              <a:ahLst/>
              <a:cxnLst/>
              <a:rect r="r" b="b" t="t" l="l"/>
              <a:pathLst>
                <a:path h="2167467" w="1859452">
                  <a:moveTo>
                    <a:pt x="30704" y="0"/>
                  </a:moveTo>
                  <a:lnTo>
                    <a:pt x="1828748" y="0"/>
                  </a:lnTo>
                  <a:cubicBezTo>
                    <a:pt x="1836891" y="0"/>
                    <a:pt x="1844701" y="3235"/>
                    <a:pt x="1850459" y="8993"/>
                  </a:cubicBezTo>
                  <a:cubicBezTo>
                    <a:pt x="1856217" y="14751"/>
                    <a:pt x="1859452" y="22561"/>
                    <a:pt x="1859452" y="30704"/>
                  </a:cubicBezTo>
                  <a:lnTo>
                    <a:pt x="1859452" y="2136763"/>
                  </a:lnTo>
                  <a:cubicBezTo>
                    <a:pt x="1859452" y="2153720"/>
                    <a:pt x="1845706" y="2167467"/>
                    <a:pt x="1828748" y="2167467"/>
                  </a:cubicBezTo>
                  <a:lnTo>
                    <a:pt x="30704" y="2167467"/>
                  </a:lnTo>
                  <a:cubicBezTo>
                    <a:pt x="22561" y="2167467"/>
                    <a:pt x="14751" y="2164232"/>
                    <a:pt x="8993" y="2158474"/>
                  </a:cubicBezTo>
                  <a:cubicBezTo>
                    <a:pt x="3235" y="2152716"/>
                    <a:pt x="0" y="2144906"/>
                    <a:pt x="0" y="2136763"/>
                  </a:cubicBezTo>
                  <a:lnTo>
                    <a:pt x="0" y="30704"/>
                  </a:lnTo>
                  <a:cubicBezTo>
                    <a:pt x="0" y="22561"/>
                    <a:pt x="3235" y="14751"/>
                    <a:pt x="8993" y="8993"/>
                  </a:cubicBezTo>
                  <a:cubicBezTo>
                    <a:pt x="14751" y="3235"/>
                    <a:pt x="22561" y="0"/>
                    <a:pt x="307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59452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611690"/>
            <a:ext cx="4170098" cy="834020"/>
          </a:xfrm>
          <a:custGeom>
            <a:avLst/>
            <a:gdLst/>
            <a:ahLst/>
            <a:cxnLst/>
            <a:rect r="r" b="b" t="t" l="l"/>
            <a:pathLst>
              <a:path h="834020" w="4170098">
                <a:moveTo>
                  <a:pt x="0" y="0"/>
                </a:moveTo>
                <a:lnTo>
                  <a:pt x="4170098" y="0"/>
                </a:lnTo>
                <a:lnTo>
                  <a:pt x="4170098" y="834020"/>
                </a:lnTo>
                <a:lnTo>
                  <a:pt x="0" y="834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63194" y="5487924"/>
            <a:ext cx="5872415" cy="834020"/>
          </a:xfrm>
          <a:custGeom>
            <a:avLst/>
            <a:gdLst/>
            <a:ahLst/>
            <a:cxnLst/>
            <a:rect r="r" b="b" t="t" l="l"/>
            <a:pathLst>
              <a:path h="834020" w="5872415">
                <a:moveTo>
                  <a:pt x="0" y="0"/>
                </a:moveTo>
                <a:lnTo>
                  <a:pt x="5872416" y="0"/>
                </a:lnTo>
                <a:lnTo>
                  <a:pt x="5872416" y="834020"/>
                </a:lnTo>
                <a:lnTo>
                  <a:pt x="0" y="834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410" r="0" b="-2041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6364" y="2109469"/>
            <a:ext cx="996541" cy="996541"/>
          </a:xfrm>
          <a:custGeom>
            <a:avLst/>
            <a:gdLst/>
            <a:ahLst/>
            <a:cxnLst/>
            <a:rect r="r" b="b" t="t" l="l"/>
            <a:pathLst>
              <a:path h="996541" w="996541">
                <a:moveTo>
                  <a:pt x="0" y="0"/>
                </a:moveTo>
                <a:lnTo>
                  <a:pt x="996541" y="0"/>
                </a:lnTo>
                <a:lnTo>
                  <a:pt x="996541" y="996541"/>
                </a:lnTo>
                <a:lnTo>
                  <a:pt x="0" y="996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5406" y="4109475"/>
            <a:ext cx="996541" cy="1034025"/>
          </a:xfrm>
          <a:custGeom>
            <a:avLst/>
            <a:gdLst/>
            <a:ahLst/>
            <a:cxnLst/>
            <a:rect r="r" b="b" t="t" l="l"/>
            <a:pathLst>
              <a:path h="1034025" w="996541">
                <a:moveTo>
                  <a:pt x="0" y="0"/>
                </a:moveTo>
                <a:lnTo>
                  <a:pt x="996541" y="0"/>
                </a:lnTo>
                <a:lnTo>
                  <a:pt x="996541" y="1034025"/>
                </a:lnTo>
                <a:lnTo>
                  <a:pt x="0" y="103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5406" y="6509277"/>
            <a:ext cx="1028184" cy="897090"/>
          </a:xfrm>
          <a:custGeom>
            <a:avLst/>
            <a:gdLst/>
            <a:ahLst/>
            <a:cxnLst/>
            <a:rect r="r" b="b" t="t" l="l"/>
            <a:pathLst>
              <a:path h="897090" w="1028184">
                <a:moveTo>
                  <a:pt x="0" y="0"/>
                </a:moveTo>
                <a:lnTo>
                  <a:pt x="1028184" y="0"/>
                </a:lnTo>
                <a:lnTo>
                  <a:pt x="1028184" y="897090"/>
                </a:lnTo>
                <a:lnTo>
                  <a:pt x="0" y="897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41978" y="3573742"/>
            <a:ext cx="8182339" cy="127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solidFill>
                  <a:srgbClr val="FFFF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OUR PROJECT’S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61041" y="1843188"/>
            <a:ext cx="4388666" cy="73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0819" indent="-230410" lvl="1">
              <a:lnSpc>
                <a:spcPts val="2988"/>
              </a:lnSpc>
              <a:buFont typeface="Arial"/>
              <a:buChar char="•"/>
            </a:pPr>
            <a:r>
              <a:rPr lang="en-US" sz="213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Analyze manufacturing downtime and machine failures.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61041" y="7121112"/>
            <a:ext cx="4627845" cy="678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102" indent="-221051" lvl="1">
              <a:lnSpc>
                <a:spcPts val="2662"/>
              </a:lnSpc>
              <a:buFont typeface="Arial"/>
              <a:buChar char="•"/>
            </a:pPr>
            <a:r>
              <a:rPr lang="en-US" sz="20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Support p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ic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tive 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enance and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re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duc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oduction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rup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</a:t>
            </a:r>
            <a:r>
              <a:rPr lang="en-US" sz="2047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61041" y="6221349"/>
            <a:ext cx="4627845" cy="73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867" indent="-229933" lvl="1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 a mac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ine le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ing mod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 f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ilure predic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tion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61041" y="3957169"/>
            <a:ext cx="4388666" cy="68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867" indent="-229933" lvl="1">
              <a:lnSpc>
                <a:spcPts val="2769"/>
              </a:lnSpc>
              <a:buFont typeface="Arial"/>
              <a:buChar char="•"/>
            </a:pPr>
            <a:r>
              <a:rPr lang="en-US" sz="2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Eval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 ma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chi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 and a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mbly line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rman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61041" y="4751451"/>
            <a:ext cx="4627845" cy="73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867" indent="-229933" lvl="1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ete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ct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arly 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arning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signs 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 eq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ipme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nt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fa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lur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12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86717" y="2741012"/>
            <a:ext cx="5302091" cy="36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867" indent="-229933" lvl="1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Identify critical fail</a:t>
            </a:r>
            <a:r>
              <a:rPr lang="en-US" sz="2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ure indicators.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08232" y="5044070"/>
            <a:ext cx="8182339" cy="127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16"/>
              </a:lnSpc>
              <a:spcBef>
                <a:spcPct val="0"/>
              </a:spcBef>
            </a:pPr>
            <a:r>
              <a:rPr lang="en-US" b="true" sz="7440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Pattanakarn Bold"/>
                <a:ea typeface="Pattanakarn Bold"/>
                <a:cs typeface="Pattanakarn Bold"/>
                <a:sym typeface="Pattanakarn Bold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34473" y="0"/>
            <a:ext cx="6353527" cy="6618831"/>
          </a:xfrm>
          <a:custGeom>
            <a:avLst/>
            <a:gdLst/>
            <a:ahLst/>
            <a:cxnLst/>
            <a:rect r="r" b="b" t="t" l="l"/>
            <a:pathLst>
              <a:path h="6618831" w="6353527">
                <a:moveTo>
                  <a:pt x="0" y="0"/>
                </a:moveTo>
                <a:lnTo>
                  <a:pt x="6353527" y="0"/>
                </a:lnTo>
                <a:lnTo>
                  <a:pt x="6353527" y="6618831"/>
                </a:lnTo>
                <a:lnTo>
                  <a:pt x="0" y="6618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2087" t="0" r="-208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463887" y="1424443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0" y="0"/>
                </a:moveTo>
                <a:lnTo>
                  <a:pt x="15115531" y="0"/>
                </a:lnTo>
                <a:lnTo>
                  <a:pt x="15115531" y="10001905"/>
                </a:lnTo>
                <a:lnTo>
                  <a:pt x="0" y="100019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73223" y="6618831"/>
            <a:ext cx="4447449" cy="2639469"/>
            <a:chOff x="0" y="0"/>
            <a:chExt cx="1171345" cy="695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1345" cy="695169"/>
            </a:xfrm>
            <a:custGeom>
              <a:avLst/>
              <a:gdLst/>
              <a:ahLst/>
              <a:cxnLst/>
              <a:rect r="r" b="b" t="t" l="l"/>
              <a:pathLst>
                <a:path h="695169" w="1171345">
                  <a:moveTo>
                    <a:pt x="69630" y="0"/>
                  </a:moveTo>
                  <a:lnTo>
                    <a:pt x="1101714" y="0"/>
                  </a:lnTo>
                  <a:cubicBezTo>
                    <a:pt x="1140170" y="0"/>
                    <a:pt x="1171345" y="31175"/>
                    <a:pt x="1171345" y="69630"/>
                  </a:cubicBezTo>
                  <a:lnTo>
                    <a:pt x="1171345" y="625539"/>
                  </a:lnTo>
                  <a:cubicBezTo>
                    <a:pt x="1171345" y="644006"/>
                    <a:pt x="1164009" y="661716"/>
                    <a:pt x="1150950" y="674775"/>
                  </a:cubicBezTo>
                  <a:cubicBezTo>
                    <a:pt x="1137892" y="687833"/>
                    <a:pt x="1120181" y="695169"/>
                    <a:pt x="1101714" y="695169"/>
                  </a:cubicBezTo>
                  <a:lnTo>
                    <a:pt x="69630" y="695169"/>
                  </a:lnTo>
                  <a:cubicBezTo>
                    <a:pt x="31175" y="695169"/>
                    <a:pt x="0" y="663994"/>
                    <a:pt x="0" y="625539"/>
                  </a:cubicBezTo>
                  <a:lnTo>
                    <a:pt x="0" y="69630"/>
                  </a:lnTo>
                  <a:cubicBezTo>
                    <a:pt x="0" y="31175"/>
                    <a:pt x="31175" y="0"/>
                    <a:pt x="696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71345" cy="733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03395" y="2700124"/>
            <a:ext cx="6920276" cy="1610049"/>
          </a:xfrm>
          <a:custGeom>
            <a:avLst/>
            <a:gdLst/>
            <a:ahLst/>
            <a:cxnLst/>
            <a:rect r="r" b="b" t="t" l="l"/>
            <a:pathLst>
              <a:path h="1610049" w="6920276">
                <a:moveTo>
                  <a:pt x="0" y="0"/>
                </a:moveTo>
                <a:lnTo>
                  <a:pt x="6920276" y="0"/>
                </a:lnTo>
                <a:lnTo>
                  <a:pt x="6920276" y="1610049"/>
                </a:lnTo>
                <a:lnTo>
                  <a:pt x="0" y="1610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64" t="0" r="-8164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920276" y="6618831"/>
            <a:ext cx="4447449" cy="2639469"/>
            <a:chOff x="0" y="0"/>
            <a:chExt cx="1171345" cy="695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1345" cy="695169"/>
            </a:xfrm>
            <a:custGeom>
              <a:avLst/>
              <a:gdLst/>
              <a:ahLst/>
              <a:cxnLst/>
              <a:rect r="r" b="b" t="t" l="l"/>
              <a:pathLst>
                <a:path h="695169" w="1171345">
                  <a:moveTo>
                    <a:pt x="69630" y="0"/>
                  </a:moveTo>
                  <a:lnTo>
                    <a:pt x="1101714" y="0"/>
                  </a:lnTo>
                  <a:cubicBezTo>
                    <a:pt x="1140170" y="0"/>
                    <a:pt x="1171345" y="31175"/>
                    <a:pt x="1171345" y="69630"/>
                  </a:cubicBezTo>
                  <a:lnTo>
                    <a:pt x="1171345" y="625539"/>
                  </a:lnTo>
                  <a:cubicBezTo>
                    <a:pt x="1171345" y="644006"/>
                    <a:pt x="1164009" y="661716"/>
                    <a:pt x="1150950" y="674775"/>
                  </a:cubicBezTo>
                  <a:cubicBezTo>
                    <a:pt x="1137892" y="687833"/>
                    <a:pt x="1120181" y="695169"/>
                    <a:pt x="1101714" y="695169"/>
                  </a:cubicBezTo>
                  <a:lnTo>
                    <a:pt x="69630" y="695169"/>
                  </a:lnTo>
                  <a:cubicBezTo>
                    <a:pt x="31175" y="695169"/>
                    <a:pt x="0" y="663994"/>
                    <a:pt x="0" y="625539"/>
                  </a:cubicBezTo>
                  <a:lnTo>
                    <a:pt x="0" y="69630"/>
                  </a:lnTo>
                  <a:cubicBezTo>
                    <a:pt x="0" y="31175"/>
                    <a:pt x="31175" y="0"/>
                    <a:pt x="696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1345" cy="733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67328" y="6618831"/>
            <a:ext cx="4447449" cy="2639469"/>
            <a:chOff x="0" y="0"/>
            <a:chExt cx="1171345" cy="6951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1345" cy="695169"/>
            </a:xfrm>
            <a:custGeom>
              <a:avLst/>
              <a:gdLst/>
              <a:ahLst/>
              <a:cxnLst/>
              <a:rect r="r" b="b" t="t" l="l"/>
              <a:pathLst>
                <a:path h="695169" w="1171345">
                  <a:moveTo>
                    <a:pt x="69630" y="0"/>
                  </a:moveTo>
                  <a:lnTo>
                    <a:pt x="1101714" y="0"/>
                  </a:lnTo>
                  <a:cubicBezTo>
                    <a:pt x="1140170" y="0"/>
                    <a:pt x="1171345" y="31175"/>
                    <a:pt x="1171345" y="69630"/>
                  </a:cubicBezTo>
                  <a:lnTo>
                    <a:pt x="1171345" y="625539"/>
                  </a:lnTo>
                  <a:cubicBezTo>
                    <a:pt x="1171345" y="644006"/>
                    <a:pt x="1164009" y="661716"/>
                    <a:pt x="1150950" y="674775"/>
                  </a:cubicBezTo>
                  <a:cubicBezTo>
                    <a:pt x="1137892" y="687833"/>
                    <a:pt x="1120181" y="695169"/>
                    <a:pt x="1101714" y="695169"/>
                  </a:cubicBezTo>
                  <a:lnTo>
                    <a:pt x="69630" y="695169"/>
                  </a:lnTo>
                  <a:cubicBezTo>
                    <a:pt x="31175" y="695169"/>
                    <a:pt x="0" y="663994"/>
                    <a:pt x="0" y="625539"/>
                  </a:cubicBezTo>
                  <a:lnTo>
                    <a:pt x="0" y="69630"/>
                  </a:lnTo>
                  <a:cubicBezTo>
                    <a:pt x="0" y="31175"/>
                    <a:pt x="31175" y="0"/>
                    <a:pt x="696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71345" cy="733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07754" y="2585824"/>
            <a:ext cx="7202005" cy="21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5"/>
              </a:lnSpc>
              <a:spcBef>
                <a:spcPct val="0"/>
              </a:spcBef>
            </a:pPr>
            <a:r>
              <a:rPr lang="en-US" b="true" sz="6261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EQUIPMENT IDENTIFICATION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906188"/>
            <a:ext cx="9705351" cy="41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3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 data point is anchored to a specific machine, location, and time.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2037" y="6841327"/>
            <a:ext cx="3706638" cy="49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6"/>
              </a:lnSpc>
              <a:spcBef>
                <a:spcPct val="0"/>
              </a:spcBef>
            </a:pPr>
            <a:r>
              <a:rPr lang="en-US" b="true" sz="284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MACHINE_ID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90681" y="6841327"/>
            <a:ext cx="3706638" cy="49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6"/>
              </a:lnSpc>
              <a:spcBef>
                <a:spcPct val="0"/>
              </a:spcBef>
            </a:pPr>
            <a:r>
              <a:rPr lang="en-US" b="true" sz="284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Assembly_Line_No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37734" y="6841327"/>
            <a:ext cx="3706638" cy="49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6"/>
              </a:lnSpc>
              <a:spcBef>
                <a:spcPct val="0"/>
              </a:spcBef>
            </a:pPr>
            <a:r>
              <a:rPr lang="en-US" b="true" sz="284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2037" y="7484481"/>
            <a:ext cx="3863239" cy="149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1"/>
              </a:lnSpc>
            </a:pPr>
            <a:r>
              <a:rPr lang="en-US" sz="28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Makino-L1-Unit1-2013</a:t>
            </a:r>
          </a:p>
          <a:p>
            <a:pPr algn="l">
              <a:lnSpc>
                <a:spcPts val="3971"/>
              </a:lnSpc>
            </a:pPr>
            <a:r>
              <a:rPr lang="en-US" sz="28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Makino-L2-Unit2-2014</a:t>
            </a:r>
          </a:p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28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Makino-L3-Unit3-2015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17585" y="7649058"/>
            <a:ext cx="2546936" cy="61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3"/>
              </a:lnSpc>
              <a:spcBef>
                <a:spcPct val="0"/>
              </a:spcBef>
            </a:pPr>
            <a:r>
              <a:rPr lang="en-US" sz="35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DD/MM/YY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71660" y="7484481"/>
            <a:ext cx="2544681" cy="149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1"/>
              </a:lnSpc>
            </a:pPr>
            <a:r>
              <a:rPr lang="en-US" sz="28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Shopfloor-L1</a:t>
            </a:r>
          </a:p>
          <a:p>
            <a:pPr algn="l">
              <a:lnSpc>
                <a:spcPts val="3971"/>
              </a:lnSpc>
            </a:pPr>
            <a:r>
              <a:rPr lang="en-US" sz="28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Shopfloor-L2</a:t>
            </a:r>
          </a:p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28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Shopfloor-L3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34473" y="3714474"/>
            <a:ext cx="6353527" cy="6618831"/>
          </a:xfrm>
          <a:custGeom>
            <a:avLst/>
            <a:gdLst/>
            <a:ahLst/>
            <a:cxnLst/>
            <a:rect r="r" b="b" t="t" l="l"/>
            <a:pathLst>
              <a:path h="6618831" w="6353527">
                <a:moveTo>
                  <a:pt x="0" y="0"/>
                </a:moveTo>
                <a:lnTo>
                  <a:pt x="6353527" y="0"/>
                </a:lnTo>
                <a:lnTo>
                  <a:pt x="6353527" y="6618831"/>
                </a:lnTo>
                <a:lnTo>
                  <a:pt x="0" y="6618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2087" t="0" r="-208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7254">
            <a:off x="-1870698" y="-6686986"/>
            <a:ext cx="20694304" cy="8924418"/>
          </a:xfrm>
          <a:custGeom>
            <a:avLst/>
            <a:gdLst/>
            <a:ahLst/>
            <a:cxnLst/>
            <a:rect r="r" b="b" t="t" l="l"/>
            <a:pathLst>
              <a:path h="8924418" w="20694304">
                <a:moveTo>
                  <a:pt x="0" y="0"/>
                </a:moveTo>
                <a:lnTo>
                  <a:pt x="20694304" y="0"/>
                </a:lnTo>
                <a:lnTo>
                  <a:pt x="20694304" y="8924419"/>
                </a:lnTo>
                <a:lnTo>
                  <a:pt x="0" y="8924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296939" y="6256882"/>
            <a:ext cx="1349890" cy="1195599"/>
            <a:chOff x="0" y="0"/>
            <a:chExt cx="355527" cy="314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527" cy="314890"/>
            </a:xfrm>
            <a:custGeom>
              <a:avLst/>
              <a:gdLst/>
              <a:ahLst/>
              <a:cxnLst/>
              <a:rect r="r" b="b" t="t" l="l"/>
              <a:pathLst>
                <a:path h="314890" w="355527">
                  <a:moveTo>
                    <a:pt x="103234" y="0"/>
                  </a:moveTo>
                  <a:lnTo>
                    <a:pt x="252293" y="0"/>
                  </a:lnTo>
                  <a:cubicBezTo>
                    <a:pt x="279672" y="0"/>
                    <a:pt x="305930" y="10876"/>
                    <a:pt x="325290" y="30237"/>
                  </a:cubicBezTo>
                  <a:cubicBezTo>
                    <a:pt x="344650" y="49597"/>
                    <a:pt x="355527" y="75855"/>
                    <a:pt x="355527" y="103234"/>
                  </a:cubicBezTo>
                  <a:lnTo>
                    <a:pt x="355527" y="211656"/>
                  </a:lnTo>
                  <a:cubicBezTo>
                    <a:pt x="355527" y="268671"/>
                    <a:pt x="309307" y="314890"/>
                    <a:pt x="252293" y="314890"/>
                  </a:cubicBezTo>
                  <a:lnTo>
                    <a:pt x="103234" y="314890"/>
                  </a:lnTo>
                  <a:cubicBezTo>
                    <a:pt x="46219" y="314890"/>
                    <a:pt x="0" y="268671"/>
                    <a:pt x="0" y="211656"/>
                  </a:cubicBezTo>
                  <a:lnTo>
                    <a:pt x="0" y="103234"/>
                  </a:lnTo>
                  <a:cubicBezTo>
                    <a:pt x="0" y="46219"/>
                    <a:pt x="46219" y="0"/>
                    <a:pt x="1032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5527" cy="352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5444" y="4018016"/>
            <a:ext cx="1349890" cy="1195599"/>
            <a:chOff x="0" y="0"/>
            <a:chExt cx="355527" cy="314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527" cy="314890"/>
            </a:xfrm>
            <a:custGeom>
              <a:avLst/>
              <a:gdLst/>
              <a:ahLst/>
              <a:cxnLst/>
              <a:rect r="r" b="b" t="t" l="l"/>
              <a:pathLst>
                <a:path h="314890" w="355527">
                  <a:moveTo>
                    <a:pt x="103234" y="0"/>
                  </a:moveTo>
                  <a:lnTo>
                    <a:pt x="252293" y="0"/>
                  </a:lnTo>
                  <a:cubicBezTo>
                    <a:pt x="279672" y="0"/>
                    <a:pt x="305930" y="10876"/>
                    <a:pt x="325290" y="30237"/>
                  </a:cubicBezTo>
                  <a:cubicBezTo>
                    <a:pt x="344650" y="49597"/>
                    <a:pt x="355527" y="75855"/>
                    <a:pt x="355527" y="103234"/>
                  </a:cubicBezTo>
                  <a:lnTo>
                    <a:pt x="355527" y="211656"/>
                  </a:lnTo>
                  <a:cubicBezTo>
                    <a:pt x="355527" y="268671"/>
                    <a:pt x="309307" y="314890"/>
                    <a:pt x="252293" y="314890"/>
                  </a:cubicBezTo>
                  <a:lnTo>
                    <a:pt x="103234" y="314890"/>
                  </a:lnTo>
                  <a:cubicBezTo>
                    <a:pt x="46219" y="314890"/>
                    <a:pt x="0" y="268671"/>
                    <a:pt x="0" y="211656"/>
                  </a:cubicBezTo>
                  <a:lnTo>
                    <a:pt x="0" y="103234"/>
                  </a:lnTo>
                  <a:cubicBezTo>
                    <a:pt x="0" y="46219"/>
                    <a:pt x="46219" y="0"/>
                    <a:pt x="1032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5527" cy="352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5444" y="1985782"/>
            <a:ext cx="1349890" cy="1195599"/>
            <a:chOff x="0" y="0"/>
            <a:chExt cx="355527" cy="314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527" cy="314890"/>
            </a:xfrm>
            <a:custGeom>
              <a:avLst/>
              <a:gdLst/>
              <a:ahLst/>
              <a:cxnLst/>
              <a:rect r="r" b="b" t="t" l="l"/>
              <a:pathLst>
                <a:path h="314890" w="355527">
                  <a:moveTo>
                    <a:pt x="103234" y="0"/>
                  </a:moveTo>
                  <a:lnTo>
                    <a:pt x="252293" y="0"/>
                  </a:lnTo>
                  <a:cubicBezTo>
                    <a:pt x="279672" y="0"/>
                    <a:pt x="305930" y="10876"/>
                    <a:pt x="325290" y="30237"/>
                  </a:cubicBezTo>
                  <a:cubicBezTo>
                    <a:pt x="344650" y="49597"/>
                    <a:pt x="355527" y="75855"/>
                    <a:pt x="355527" y="103234"/>
                  </a:cubicBezTo>
                  <a:lnTo>
                    <a:pt x="355527" y="211656"/>
                  </a:lnTo>
                  <a:cubicBezTo>
                    <a:pt x="355527" y="268671"/>
                    <a:pt x="309307" y="314890"/>
                    <a:pt x="252293" y="314890"/>
                  </a:cubicBezTo>
                  <a:lnTo>
                    <a:pt x="103234" y="314890"/>
                  </a:lnTo>
                  <a:cubicBezTo>
                    <a:pt x="46219" y="314890"/>
                    <a:pt x="0" y="268671"/>
                    <a:pt x="0" y="211656"/>
                  </a:cubicBezTo>
                  <a:lnTo>
                    <a:pt x="0" y="103234"/>
                  </a:lnTo>
                  <a:cubicBezTo>
                    <a:pt x="0" y="46219"/>
                    <a:pt x="46219" y="0"/>
                    <a:pt x="1032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55527" cy="352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70107" y="2109328"/>
            <a:ext cx="820563" cy="862616"/>
          </a:xfrm>
          <a:custGeom>
            <a:avLst/>
            <a:gdLst/>
            <a:ahLst/>
            <a:cxnLst/>
            <a:rect r="r" b="b" t="t" l="l"/>
            <a:pathLst>
              <a:path h="862616" w="820563">
                <a:moveTo>
                  <a:pt x="0" y="0"/>
                </a:moveTo>
                <a:lnTo>
                  <a:pt x="820563" y="0"/>
                </a:lnTo>
                <a:lnTo>
                  <a:pt x="820563" y="862616"/>
                </a:lnTo>
                <a:lnTo>
                  <a:pt x="0" y="862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0107" y="4148257"/>
            <a:ext cx="820563" cy="935115"/>
          </a:xfrm>
          <a:custGeom>
            <a:avLst/>
            <a:gdLst/>
            <a:ahLst/>
            <a:cxnLst/>
            <a:rect r="r" b="b" t="t" l="l"/>
            <a:pathLst>
              <a:path h="935115" w="820563">
                <a:moveTo>
                  <a:pt x="0" y="0"/>
                </a:moveTo>
                <a:lnTo>
                  <a:pt x="820563" y="0"/>
                </a:lnTo>
                <a:lnTo>
                  <a:pt x="820563" y="935116"/>
                </a:lnTo>
                <a:lnTo>
                  <a:pt x="0" y="9351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0107" y="6489678"/>
            <a:ext cx="803553" cy="803553"/>
          </a:xfrm>
          <a:custGeom>
            <a:avLst/>
            <a:gdLst/>
            <a:ahLst/>
            <a:cxnLst/>
            <a:rect r="r" b="b" t="t" l="l"/>
            <a:pathLst>
              <a:path h="803553" w="803553">
                <a:moveTo>
                  <a:pt x="0" y="0"/>
                </a:moveTo>
                <a:lnTo>
                  <a:pt x="803554" y="0"/>
                </a:lnTo>
                <a:lnTo>
                  <a:pt x="803554" y="803554"/>
                </a:lnTo>
                <a:lnTo>
                  <a:pt x="0" y="8035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944874" y="3503649"/>
            <a:ext cx="8561587" cy="259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PRESSURE SYSTEMS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44874" y="2424330"/>
            <a:ext cx="7576093" cy="127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solidFill>
                  <a:srgbClr val="FFFF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FLUID POWER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44874" y="6423003"/>
            <a:ext cx="7576093" cy="42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  <a:spcBef>
                <a:spcPct val="0"/>
              </a:spcBef>
            </a:pPr>
            <a:r>
              <a:rPr lang="en-US" sz="23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circulatory system of every CNC unit.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28355" y="1919107"/>
            <a:ext cx="5517816" cy="104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29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Hydraulic Pressure</a:t>
            </a:r>
          </a:p>
          <a:p>
            <a:pPr algn="l">
              <a:lnSpc>
                <a:spcPts val="4177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129003" y="4048652"/>
            <a:ext cx="5716519" cy="51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7"/>
              </a:lnSpc>
              <a:spcBef>
                <a:spcPct val="0"/>
              </a:spcBef>
            </a:pPr>
            <a:r>
              <a:rPr lang="en-US" sz="29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COOLANT PRESUURE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28355" y="2529105"/>
            <a:ext cx="4573974" cy="111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Drives primary moving components measured in bar.</a:t>
            </a:r>
          </a:p>
          <a:p>
            <a:pPr algn="l">
              <a:lnSpc>
                <a:spcPts val="292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129003" y="4620056"/>
            <a:ext cx="4573974" cy="74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Ensure consistent flow at the tool workpiece interface.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28355" y="6244356"/>
            <a:ext cx="5716519" cy="104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7"/>
              </a:lnSpc>
              <a:spcBef>
                <a:spcPct val="0"/>
              </a:spcBef>
            </a:pPr>
            <a:r>
              <a:rPr lang="en-US" sz="29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Air System Pressure</a:t>
            </a:r>
          </a:p>
          <a:p>
            <a:pPr algn="l">
              <a:lnSpc>
                <a:spcPts val="4177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3228355" y="6853355"/>
            <a:ext cx="4573974" cy="111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Powers tool changes and debris clearing.</a:t>
            </a:r>
          </a:p>
          <a:p>
            <a:pPr algn="l">
              <a:lnSpc>
                <a:spcPts val="292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62397" y="-1636861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0" y="0"/>
                </a:moveTo>
                <a:lnTo>
                  <a:pt x="15115531" y="0"/>
                </a:lnTo>
                <a:lnTo>
                  <a:pt x="15115531" y="10001905"/>
                </a:lnTo>
                <a:lnTo>
                  <a:pt x="0" y="10001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6641" y="-5910998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0" y="0"/>
                </a:moveTo>
                <a:lnTo>
                  <a:pt x="15115531" y="0"/>
                </a:lnTo>
                <a:lnTo>
                  <a:pt x="15115531" y="10001905"/>
                </a:lnTo>
                <a:lnTo>
                  <a:pt x="0" y="10001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19865" y="1707357"/>
            <a:ext cx="5990642" cy="10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7"/>
              </a:lnSpc>
              <a:spcBef>
                <a:spcPct val="0"/>
              </a:spcBef>
            </a:pPr>
            <a:r>
              <a:rPr lang="en-US" b="true" sz="6262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MONITORING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19865" y="759805"/>
            <a:ext cx="5990642" cy="10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7"/>
              </a:lnSpc>
              <a:spcBef>
                <a:spcPct val="0"/>
              </a:spcBef>
            </a:pPr>
            <a:r>
              <a:rPr lang="en-US" b="true" sz="6262">
                <a:solidFill>
                  <a:srgbClr val="FFFF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THERMAL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04900" y="617086"/>
            <a:ext cx="7557765" cy="4441821"/>
            <a:chOff x="0" y="0"/>
            <a:chExt cx="1990523" cy="1169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0522" cy="1169862"/>
            </a:xfrm>
            <a:custGeom>
              <a:avLst/>
              <a:gdLst/>
              <a:ahLst/>
              <a:cxnLst/>
              <a:rect r="r" b="b" t="t" l="l"/>
              <a:pathLst>
                <a:path h="1169862" w="1990522">
                  <a:moveTo>
                    <a:pt x="28682" y="0"/>
                  </a:moveTo>
                  <a:lnTo>
                    <a:pt x="1961840" y="0"/>
                  </a:lnTo>
                  <a:cubicBezTo>
                    <a:pt x="1969447" y="0"/>
                    <a:pt x="1976743" y="3022"/>
                    <a:pt x="1982122" y="8401"/>
                  </a:cubicBezTo>
                  <a:cubicBezTo>
                    <a:pt x="1987501" y="13780"/>
                    <a:pt x="1990522" y="21075"/>
                    <a:pt x="1990522" y="28682"/>
                  </a:cubicBezTo>
                  <a:lnTo>
                    <a:pt x="1990522" y="1141180"/>
                  </a:lnTo>
                  <a:cubicBezTo>
                    <a:pt x="1990522" y="1157021"/>
                    <a:pt x="1977681" y="1169862"/>
                    <a:pt x="1961840" y="1169862"/>
                  </a:cubicBezTo>
                  <a:lnTo>
                    <a:pt x="28682" y="1169862"/>
                  </a:lnTo>
                  <a:cubicBezTo>
                    <a:pt x="21075" y="1169862"/>
                    <a:pt x="13780" y="1166841"/>
                    <a:pt x="8401" y="1161462"/>
                  </a:cubicBezTo>
                  <a:cubicBezTo>
                    <a:pt x="3022" y="1156083"/>
                    <a:pt x="0" y="1148787"/>
                    <a:pt x="0" y="1141180"/>
                  </a:cubicBezTo>
                  <a:lnTo>
                    <a:pt x="0" y="28682"/>
                  </a:lnTo>
                  <a:cubicBezTo>
                    <a:pt x="0" y="12841"/>
                    <a:pt x="12841" y="0"/>
                    <a:pt x="286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90523" cy="1207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796942" y="1322652"/>
            <a:ext cx="3420482" cy="684096"/>
          </a:xfrm>
          <a:custGeom>
            <a:avLst/>
            <a:gdLst/>
            <a:ahLst/>
            <a:cxnLst/>
            <a:rect r="r" b="b" t="t" l="l"/>
            <a:pathLst>
              <a:path h="684096" w="3420482">
                <a:moveTo>
                  <a:pt x="0" y="0"/>
                </a:moveTo>
                <a:lnTo>
                  <a:pt x="3420482" y="0"/>
                </a:lnTo>
                <a:lnTo>
                  <a:pt x="3420482" y="684096"/>
                </a:lnTo>
                <a:lnTo>
                  <a:pt x="0" y="6840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19865" y="2733223"/>
            <a:ext cx="7600819" cy="152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41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attanakarn SemiCondensed"/>
                <a:ea typeface="Pattanakarn SemiCondensed"/>
                <a:cs typeface="Pattanakarn SemiCondensed"/>
                <a:sym typeface="Pattanakarn SemiCondensed"/>
              </a:rPr>
              <a:t>Heat is the enemy of precision. </a:t>
            </a:r>
          </a:p>
          <a:p>
            <a:pPr algn="l" marL="539748" indent="-269874" lvl="1">
              <a:lnSpc>
                <a:spcPts val="41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attanakarn SemiCondensed"/>
                <a:ea typeface="Pattanakarn SemiCondensed"/>
                <a:cs typeface="Pattanakarn SemiCondensed"/>
                <a:sym typeface="Pattanakarn SemiCondensed"/>
              </a:rPr>
              <a:t>Thermal drift causes dimensional errors.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19865" y="5534897"/>
            <a:ext cx="7764028" cy="214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FFFF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VIBRATION  </a:t>
            </a:r>
          </a:p>
          <a:p>
            <a:pPr algn="l">
              <a:lnSpc>
                <a:spcPts val="868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19865" y="6580107"/>
            <a:ext cx="5974530" cy="165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9"/>
              </a:lnSpc>
              <a:spcBef>
                <a:spcPct val="0"/>
              </a:spcBef>
            </a:pPr>
            <a:r>
              <a:rPr lang="en-US" b="true" sz="4770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DISPLACEMENT TRACKING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04900" y="5750598"/>
            <a:ext cx="7557765" cy="3185548"/>
            <a:chOff x="0" y="0"/>
            <a:chExt cx="1990523" cy="8389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0522" cy="838992"/>
            </a:xfrm>
            <a:custGeom>
              <a:avLst/>
              <a:gdLst/>
              <a:ahLst/>
              <a:cxnLst/>
              <a:rect r="r" b="b" t="t" l="l"/>
              <a:pathLst>
                <a:path h="838992" w="1990522">
                  <a:moveTo>
                    <a:pt x="28682" y="0"/>
                  </a:moveTo>
                  <a:lnTo>
                    <a:pt x="1961840" y="0"/>
                  </a:lnTo>
                  <a:cubicBezTo>
                    <a:pt x="1969447" y="0"/>
                    <a:pt x="1976743" y="3022"/>
                    <a:pt x="1982122" y="8401"/>
                  </a:cubicBezTo>
                  <a:cubicBezTo>
                    <a:pt x="1987501" y="13780"/>
                    <a:pt x="1990522" y="21075"/>
                    <a:pt x="1990522" y="28682"/>
                  </a:cubicBezTo>
                  <a:lnTo>
                    <a:pt x="1990522" y="810310"/>
                  </a:lnTo>
                  <a:cubicBezTo>
                    <a:pt x="1990522" y="826151"/>
                    <a:pt x="1977681" y="838992"/>
                    <a:pt x="1961840" y="838992"/>
                  </a:cubicBezTo>
                  <a:lnTo>
                    <a:pt x="28682" y="838992"/>
                  </a:lnTo>
                  <a:cubicBezTo>
                    <a:pt x="12841" y="838992"/>
                    <a:pt x="0" y="826151"/>
                    <a:pt x="0" y="810310"/>
                  </a:cubicBezTo>
                  <a:lnTo>
                    <a:pt x="0" y="28682"/>
                  </a:lnTo>
                  <a:cubicBezTo>
                    <a:pt x="0" y="12841"/>
                    <a:pt x="12841" y="0"/>
                    <a:pt x="286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90523" cy="877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14522" y="2170377"/>
            <a:ext cx="523367" cy="931559"/>
          </a:xfrm>
          <a:custGeom>
            <a:avLst/>
            <a:gdLst/>
            <a:ahLst/>
            <a:cxnLst/>
            <a:rect r="r" b="b" t="t" l="l"/>
            <a:pathLst>
              <a:path h="931559" w="523367">
                <a:moveTo>
                  <a:pt x="0" y="0"/>
                </a:moveTo>
                <a:lnTo>
                  <a:pt x="523367" y="0"/>
                </a:lnTo>
                <a:lnTo>
                  <a:pt x="523367" y="931559"/>
                </a:lnTo>
                <a:lnTo>
                  <a:pt x="0" y="9315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07524" y="964723"/>
            <a:ext cx="796079" cy="796079"/>
          </a:xfrm>
          <a:custGeom>
            <a:avLst/>
            <a:gdLst/>
            <a:ahLst/>
            <a:cxnLst/>
            <a:rect r="r" b="b" t="t" l="l"/>
            <a:pathLst>
              <a:path h="796079" w="796079">
                <a:moveTo>
                  <a:pt x="0" y="0"/>
                </a:moveTo>
                <a:lnTo>
                  <a:pt x="796079" y="0"/>
                </a:lnTo>
                <a:lnTo>
                  <a:pt x="796079" y="796079"/>
                </a:lnTo>
                <a:lnTo>
                  <a:pt x="0" y="7960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9278" y="3506937"/>
            <a:ext cx="1012569" cy="1012569"/>
          </a:xfrm>
          <a:custGeom>
            <a:avLst/>
            <a:gdLst/>
            <a:ahLst/>
            <a:cxnLst/>
            <a:rect r="r" b="b" t="t" l="l"/>
            <a:pathLst>
              <a:path h="1012569" w="1012569">
                <a:moveTo>
                  <a:pt x="0" y="0"/>
                </a:moveTo>
                <a:lnTo>
                  <a:pt x="1012570" y="0"/>
                </a:lnTo>
                <a:lnTo>
                  <a:pt x="1012570" y="1012569"/>
                </a:lnTo>
                <a:lnTo>
                  <a:pt x="0" y="10125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11558" y="7559085"/>
            <a:ext cx="1052662" cy="944417"/>
          </a:xfrm>
          <a:custGeom>
            <a:avLst/>
            <a:gdLst/>
            <a:ahLst/>
            <a:cxnLst/>
            <a:rect r="r" b="b" t="t" l="l"/>
            <a:pathLst>
              <a:path h="944417" w="1052662">
                <a:moveTo>
                  <a:pt x="0" y="0"/>
                </a:moveTo>
                <a:lnTo>
                  <a:pt x="1052662" y="0"/>
                </a:lnTo>
                <a:lnTo>
                  <a:pt x="1052662" y="944417"/>
                </a:lnTo>
                <a:lnTo>
                  <a:pt x="0" y="944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5730" r="0" b="-573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07524" y="6141995"/>
            <a:ext cx="945099" cy="844989"/>
          </a:xfrm>
          <a:custGeom>
            <a:avLst/>
            <a:gdLst/>
            <a:ahLst/>
            <a:cxnLst/>
            <a:rect r="r" b="b" t="t" l="l"/>
            <a:pathLst>
              <a:path h="844989" w="945099">
                <a:moveTo>
                  <a:pt x="0" y="0"/>
                </a:moveTo>
                <a:lnTo>
                  <a:pt x="945098" y="0"/>
                </a:lnTo>
                <a:lnTo>
                  <a:pt x="945098" y="844989"/>
                </a:lnTo>
                <a:lnTo>
                  <a:pt x="0" y="8449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923" r="0" b="-5923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682121" y="3419475"/>
            <a:ext cx="5472237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 b="true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Spindle Bearing Temp (°C)</a:t>
            </a:r>
          </a:p>
          <a:p>
            <a:pPr algn="l">
              <a:lnSpc>
                <a:spcPts val="2684"/>
              </a:lnSpc>
            </a:pPr>
            <a:r>
              <a:rPr lang="en-US" sz="22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Prevents thermal expansion &amp; accuracy loss.</a:t>
            </a:r>
          </a:p>
          <a:p>
            <a:pPr algn="l">
              <a:lnSpc>
                <a:spcPts val="3404"/>
              </a:lnSpc>
            </a:pPr>
          </a:p>
          <a:p>
            <a:pPr algn="l">
              <a:lnSpc>
                <a:spcPts val="340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682121" y="2151327"/>
            <a:ext cx="506362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Coolant Temperature.</a:t>
            </a:r>
          </a:p>
          <a:p>
            <a:pPr algn="l" marL="0" indent="0" lvl="0">
              <a:lnSpc>
                <a:spcPts val="2722"/>
              </a:lnSpc>
              <a:spcBef>
                <a:spcPct val="0"/>
              </a:spcBef>
            </a:pPr>
            <a:r>
              <a:rPr lang="en-US" sz="2268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Fluid thermal state at cutting zone.</a:t>
            </a:r>
          </a:p>
          <a:p>
            <a:pPr algn="l" marL="0" indent="0" lvl="0">
              <a:lnSpc>
                <a:spcPts val="2722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682121" y="945673"/>
            <a:ext cx="417732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 b="true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Hydraulic Oil Temp(°C)</a:t>
            </a:r>
          </a:p>
          <a:p>
            <a:pPr algn="l">
              <a:lnSpc>
                <a:spcPts val="2722"/>
              </a:lnSpc>
            </a:pPr>
            <a:r>
              <a:rPr lang="en-US" sz="226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Viscosity &amp; lubrication integrity.</a:t>
            </a:r>
          </a:p>
          <a:p>
            <a:pPr algn="l">
              <a:lnSpc>
                <a:spcPts val="3082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119865" y="8405248"/>
            <a:ext cx="776402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attanakarn SemiCondensed"/>
                <a:ea typeface="Pattanakarn SemiCondensed"/>
                <a:cs typeface="Pattanakarn SemiCondensed"/>
                <a:sym typeface="Pattanakarn SemiCondensed"/>
              </a:rPr>
              <a:t>Mechanical oscillations compromise surface finish and tool life. Measured in micrometers (µm).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82121" y="6397042"/>
            <a:ext cx="4647758" cy="75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5"/>
              </a:lnSpc>
            </a:pPr>
          </a:p>
          <a:p>
            <a:pPr algn="ctr">
              <a:lnSpc>
                <a:spcPts val="2925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Oscillation of the cutting tool itself.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13103" y="8149635"/>
            <a:ext cx="5623568" cy="78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  <a:spcBef>
                <a:spcPct val="0"/>
              </a:spcBef>
            </a:pPr>
            <a:r>
              <a:rPr lang="en-US" sz="22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Oscillati</a:t>
            </a:r>
            <a:r>
              <a:rPr lang="en-US" sz="22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 of the machine spindle assembly.</a:t>
            </a:r>
          </a:p>
          <a:p>
            <a:pPr algn="ctr">
              <a:lnSpc>
                <a:spcPts val="3134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2594838" y="6065795"/>
            <a:ext cx="2823402" cy="108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7"/>
              </a:lnSpc>
              <a:spcBef>
                <a:spcPct val="0"/>
              </a:spcBef>
            </a:pPr>
            <a:r>
              <a:rPr lang="en-US" b="true" sz="308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</a:t>
            </a:r>
            <a:r>
              <a:rPr lang="en-US" b="true" sz="308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ool Vibration</a:t>
            </a:r>
          </a:p>
          <a:p>
            <a:pPr algn="ctr">
              <a:lnSpc>
                <a:spcPts val="4317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762658" y="7482885"/>
            <a:ext cx="3018711" cy="108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2"/>
              </a:lnSpc>
              <a:spcBef>
                <a:spcPct val="0"/>
              </a:spcBef>
            </a:pPr>
            <a:r>
              <a:rPr lang="en-US" b="true" sz="308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Spindle</a:t>
            </a:r>
            <a:r>
              <a:rPr lang="en-US" b="true" sz="308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Vibration</a:t>
            </a:r>
          </a:p>
          <a:p>
            <a:pPr algn="ctr">
              <a:lnSpc>
                <a:spcPts val="43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07254">
            <a:off x="-1870698" y="-6686986"/>
            <a:ext cx="20694304" cy="8924418"/>
          </a:xfrm>
          <a:custGeom>
            <a:avLst/>
            <a:gdLst/>
            <a:ahLst/>
            <a:cxnLst/>
            <a:rect r="r" b="b" t="t" l="l"/>
            <a:pathLst>
              <a:path h="8924418" w="20694304">
                <a:moveTo>
                  <a:pt x="0" y="0"/>
                </a:moveTo>
                <a:lnTo>
                  <a:pt x="20694304" y="0"/>
                </a:lnTo>
                <a:lnTo>
                  <a:pt x="20694304" y="8924419"/>
                </a:lnTo>
                <a:lnTo>
                  <a:pt x="0" y="89244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6376375" cy="10287000"/>
          </a:xfrm>
          <a:custGeom>
            <a:avLst/>
            <a:gdLst/>
            <a:ahLst/>
            <a:cxnLst/>
            <a:rect r="r" b="b" t="t" l="l"/>
            <a:pathLst>
              <a:path h="10287000" w="6376375">
                <a:moveTo>
                  <a:pt x="0" y="0"/>
                </a:moveTo>
                <a:lnTo>
                  <a:pt x="6376375" y="0"/>
                </a:lnTo>
                <a:lnTo>
                  <a:pt x="6376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3213" t="0" r="-126798" b="-4603"/>
            </a:stretch>
          </a:blipFill>
          <a:ln w="38100" cap="sq">
            <a:solidFill>
              <a:srgbClr val="27B8FF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-1255871" y="2284571"/>
            <a:ext cx="10287000" cy="5717858"/>
          </a:xfrm>
          <a:custGeom>
            <a:avLst/>
            <a:gdLst/>
            <a:ahLst/>
            <a:cxnLst/>
            <a:rect r="r" b="b" t="t" l="l"/>
            <a:pathLst>
              <a:path h="5717858" w="10287000">
                <a:moveTo>
                  <a:pt x="0" y="0"/>
                </a:moveTo>
                <a:lnTo>
                  <a:pt x="10287000" y="0"/>
                </a:lnTo>
                <a:lnTo>
                  <a:pt x="10287000" y="5717858"/>
                </a:lnTo>
                <a:lnTo>
                  <a:pt x="0" y="5717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888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39426" y="3329106"/>
            <a:ext cx="10296383" cy="127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ELECTROCHEMICAL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39426" y="2255363"/>
            <a:ext cx="10296383" cy="127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solidFill>
                  <a:srgbClr val="FFFF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KINEMATICS &amp;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639426" y="5288044"/>
            <a:ext cx="12813861" cy="570349"/>
            <a:chOff x="0" y="0"/>
            <a:chExt cx="17085148" cy="7604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76200"/>
              <a:ext cx="17085148" cy="836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3"/>
                </a:lnSpc>
              </a:pPr>
              <a:r>
                <a:rPr lang="en-US" sz="3795" b="true">
                  <a:solidFill>
                    <a:srgbClr val="27B8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VOLTAGE (V)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550545" y="-76200"/>
              <a:ext cx="7142338" cy="836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3"/>
                </a:lnSpc>
              </a:pPr>
              <a:r>
                <a:rPr lang="en-US" sz="379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Electrical Power Supply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39426" y="6097558"/>
            <a:ext cx="11897048" cy="570230"/>
            <a:chOff x="0" y="0"/>
            <a:chExt cx="15862731" cy="76030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15862731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b="true">
                  <a:solidFill>
                    <a:srgbClr val="27B8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SPINDLE SPEED (RPM)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535181" y="-76200"/>
              <a:ext cx="6631315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Rational Frequency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39426" y="6953538"/>
            <a:ext cx="12333070" cy="570230"/>
            <a:chOff x="0" y="0"/>
            <a:chExt cx="16444094" cy="76030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76200"/>
              <a:ext cx="16444094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20"/>
                </a:lnSpc>
              </a:pPr>
              <a:r>
                <a:rPr lang="en-US" sz="3800" b="true">
                  <a:solidFill>
                    <a:srgbClr val="27B8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TORQUE (Nm)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316149" y="-76200"/>
              <a:ext cx="7887021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20"/>
                </a:lnSpc>
              </a:pPr>
              <a:r>
                <a:rPr lang="en-US" sz="3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Reactive Mechanical Force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39426" y="7896821"/>
            <a:ext cx="11594934" cy="570230"/>
            <a:chOff x="0" y="0"/>
            <a:chExt cx="15459911" cy="76030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76200"/>
              <a:ext cx="15459911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b="true">
                  <a:solidFill>
                    <a:srgbClr val="27B8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CUTTING FORCE (kN)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920702" y="-76200"/>
              <a:ext cx="7414981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Materiak Resistance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3876960">
            <a:off x="1214953" y="-1687626"/>
            <a:ext cx="14058729" cy="9302622"/>
          </a:xfrm>
          <a:custGeom>
            <a:avLst/>
            <a:gdLst/>
            <a:ahLst/>
            <a:cxnLst/>
            <a:rect r="r" b="b" t="t" l="l"/>
            <a:pathLst>
              <a:path h="9302622" w="14058729">
                <a:moveTo>
                  <a:pt x="0" y="0"/>
                </a:moveTo>
                <a:lnTo>
                  <a:pt x="14058729" y="0"/>
                </a:lnTo>
                <a:lnTo>
                  <a:pt x="14058729" y="9302622"/>
                </a:lnTo>
                <a:lnTo>
                  <a:pt x="0" y="9302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1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34473" y="3714474"/>
            <a:ext cx="6353527" cy="6618831"/>
          </a:xfrm>
          <a:custGeom>
            <a:avLst/>
            <a:gdLst/>
            <a:ahLst/>
            <a:cxnLst/>
            <a:rect r="r" b="b" t="t" l="l"/>
            <a:pathLst>
              <a:path h="6618831" w="6353527">
                <a:moveTo>
                  <a:pt x="0" y="0"/>
                </a:moveTo>
                <a:lnTo>
                  <a:pt x="6353527" y="0"/>
                </a:lnTo>
                <a:lnTo>
                  <a:pt x="6353527" y="6618831"/>
                </a:lnTo>
                <a:lnTo>
                  <a:pt x="0" y="6618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2087" t="0" r="-208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7254">
            <a:off x="-2269761" y="-6563161"/>
            <a:ext cx="20694304" cy="8924418"/>
          </a:xfrm>
          <a:custGeom>
            <a:avLst/>
            <a:gdLst/>
            <a:ahLst/>
            <a:cxnLst/>
            <a:rect r="r" b="b" t="t" l="l"/>
            <a:pathLst>
              <a:path h="8924418" w="20694304">
                <a:moveTo>
                  <a:pt x="0" y="0"/>
                </a:moveTo>
                <a:lnTo>
                  <a:pt x="20694303" y="0"/>
                </a:lnTo>
                <a:lnTo>
                  <a:pt x="20694303" y="8924419"/>
                </a:lnTo>
                <a:lnTo>
                  <a:pt x="0" y="8924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959313" y="5062097"/>
            <a:ext cx="1349890" cy="1195599"/>
            <a:chOff x="0" y="0"/>
            <a:chExt cx="355527" cy="314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527" cy="314890"/>
            </a:xfrm>
            <a:custGeom>
              <a:avLst/>
              <a:gdLst/>
              <a:ahLst/>
              <a:cxnLst/>
              <a:rect r="r" b="b" t="t" l="l"/>
              <a:pathLst>
                <a:path h="314890" w="355527">
                  <a:moveTo>
                    <a:pt x="103234" y="0"/>
                  </a:moveTo>
                  <a:lnTo>
                    <a:pt x="252293" y="0"/>
                  </a:lnTo>
                  <a:cubicBezTo>
                    <a:pt x="279672" y="0"/>
                    <a:pt x="305930" y="10876"/>
                    <a:pt x="325290" y="30237"/>
                  </a:cubicBezTo>
                  <a:cubicBezTo>
                    <a:pt x="344650" y="49597"/>
                    <a:pt x="355527" y="75855"/>
                    <a:pt x="355527" y="103234"/>
                  </a:cubicBezTo>
                  <a:lnTo>
                    <a:pt x="355527" y="211656"/>
                  </a:lnTo>
                  <a:cubicBezTo>
                    <a:pt x="355527" y="268671"/>
                    <a:pt x="309307" y="314890"/>
                    <a:pt x="252293" y="314890"/>
                  </a:cubicBezTo>
                  <a:lnTo>
                    <a:pt x="103234" y="314890"/>
                  </a:lnTo>
                  <a:cubicBezTo>
                    <a:pt x="46219" y="314890"/>
                    <a:pt x="0" y="268671"/>
                    <a:pt x="0" y="211656"/>
                  </a:cubicBezTo>
                  <a:lnTo>
                    <a:pt x="0" y="103234"/>
                  </a:lnTo>
                  <a:cubicBezTo>
                    <a:pt x="0" y="46219"/>
                    <a:pt x="46219" y="0"/>
                    <a:pt x="1032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5527" cy="352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9313" y="2235880"/>
            <a:ext cx="1349890" cy="1195599"/>
            <a:chOff x="0" y="0"/>
            <a:chExt cx="355527" cy="314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527" cy="314890"/>
            </a:xfrm>
            <a:custGeom>
              <a:avLst/>
              <a:gdLst/>
              <a:ahLst/>
              <a:cxnLst/>
              <a:rect r="r" b="b" t="t" l="l"/>
              <a:pathLst>
                <a:path h="314890" w="355527">
                  <a:moveTo>
                    <a:pt x="103234" y="0"/>
                  </a:moveTo>
                  <a:lnTo>
                    <a:pt x="252293" y="0"/>
                  </a:lnTo>
                  <a:cubicBezTo>
                    <a:pt x="279672" y="0"/>
                    <a:pt x="305930" y="10876"/>
                    <a:pt x="325290" y="30237"/>
                  </a:cubicBezTo>
                  <a:cubicBezTo>
                    <a:pt x="344650" y="49597"/>
                    <a:pt x="355527" y="75855"/>
                    <a:pt x="355527" y="103234"/>
                  </a:cubicBezTo>
                  <a:lnTo>
                    <a:pt x="355527" y="211656"/>
                  </a:lnTo>
                  <a:cubicBezTo>
                    <a:pt x="355527" y="268671"/>
                    <a:pt x="309307" y="314890"/>
                    <a:pt x="252293" y="314890"/>
                  </a:cubicBezTo>
                  <a:lnTo>
                    <a:pt x="103234" y="314890"/>
                  </a:lnTo>
                  <a:cubicBezTo>
                    <a:pt x="46219" y="314890"/>
                    <a:pt x="0" y="268671"/>
                    <a:pt x="0" y="211656"/>
                  </a:cubicBezTo>
                  <a:lnTo>
                    <a:pt x="0" y="103234"/>
                  </a:lnTo>
                  <a:cubicBezTo>
                    <a:pt x="0" y="46219"/>
                    <a:pt x="46219" y="0"/>
                    <a:pt x="1032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5527" cy="352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71600" y="5143500"/>
            <a:ext cx="982201" cy="982201"/>
          </a:xfrm>
          <a:custGeom>
            <a:avLst/>
            <a:gdLst/>
            <a:ahLst/>
            <a:cxnLst/>
            <a:rect r="r" b="b" t="t" l="l"/>
            <a:pathLst>
              <a:path h="982201" w="982201">
                <a:moveTo>
                  <a:pt x="0" y="0"/>
                </a:moveTo>
                <a:lnTo>
                  <a:pt x="982201" y="0"/>
                </a:lnTo>
                <a:lnTo>
                  <a:pt x="982201" y="982201"/>
                </a:lnTo>
                <a:lnTo>
                  <a:pt x="0" y="982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1600" y="2371021"/>
            <a:ext cx="925317" cy="925317"/>
          </a:xfrm>
          <a:custGeom>
            <a:avLst/>
            <a:gdLst/>
            <a:ahLst/>
            <a:cxnLst/>
            <a:rect r="r" b="b" t="t" l="l"/>
            <a:pathLst>
              <a:path h="925317" w="925317">
                <a:moveTo>
                  <a:pt x="0" y="0"/>
                </a:moveTo>
                <a:lnTo>
                  <a:pt x="925317" y="0"/>
                </a:lnTo>
                <a:lnTo>
                  <a:pt x="925317" y="925317"/>
                </a:lnTo>
                <a:lnTo>
                  <a:pt x="0" y="9253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240253" y="3915712"/>
            <a:ext cx="9541829" cy="259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THE TARGET VARIABLE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40253" y="1370948"/>
            <a:ext cx="7576093" cy="259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solidFill>
                  <a:srgbClr val="FFFFFF"/>
                </a:solidFill>
                <a:latin typeface="Pattanakarn SemiCondensed Bold"/>
                <a:ea typeface="Pattanakarn SemiCondensed Bold"/>
                <a:cs typeface="Pattanakarn SemiCondensed Bold"/>
                <a:sym typeface="Pattanakarn SemiCondensed Bold"/>
              </a:rPr>
              <a:t>OPERATIONAL STATUS </a:t>
            </a:r>
          </a:p>
        </p:txBody>
      </p:sp>
      <p:grpSp>
        <p:nvGrpSpPr>
          <p:cNvPr name="Group 15" id="15"/>
          <p:cNvGrpSpPr/>
          <p:nvPr/>
        </p:nvGrpSpPr>
        <p:grpSpPr>
          <a:xfrm rot="-10800000">
            <a:off x="96253" y="5312527"/>
            <a:ext cx="18288000" cy="11605283"/>
            <a:chOff x="0" y="0"/>
            <a:chExt cx="4816593" cy="30565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3056535"/>
            </a:xfrm>
            <a:custGeom>
              <a:avLst/>
              <a:gdLst/>
              <a:ahLst/>
              <a:cxnLst/>
              <a:rect r="r" b="b" t="t" l="l"/>
              <a:pathLst>
                <a:path h="30565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056535"/>
                  </a:lnTo>
                  <a:lnTo>
                    <a:pt x="0" y="305653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816593" cy="309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960773" y="7748604"/>
            <a:ext cx="8558961" cy="96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27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All sensor data converges on one critical classification</a:t>
            </a:r>
          </a:p>
          <a:p>
            <a:pPr algn="l">
              <a:lnSpc>
                <a:spcPts val="3866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559575" y="2105840"/>
            <a:ext cx="5517816" cy="119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338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Operational</a:t>
            </a:r>
          </a:p>
          <a:p>
            <a:pPr algn="l">
              <a:lnSpc>
                <a:spcPts val="4732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559575" y="4913560"/>
            <a:ext cx="5716519" cy="119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33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Machine Failure</a:t>
            </a:r>
          </a:p>
          <a:p>
            <a:pPr algn="l">
              <a:lnSpc>
                <a:spcPts val="4737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559575" y="2795579"/>
            <a:ext cx="5517816" cy="126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running within nominal tolerances  no intervention needed</a:t>
            </a:r>
          </a:p>
          <a:p>
            <a:pPr algn="l">
              <a:lnSpc>
                <a:spcPts val="3315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559575" y="5621796"/>
            <a:ext cx="5517816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Critical fault or wear threshold reached triggers maintenance protocol</a:t>
            </a:r>
          </a:p>
          <a:p>
            <a:pPr algn="l">
              <a:lnSpc>
                <a:spcPts val="331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529955" y="200699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197570" y="-2264398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1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1" y="10001905"/>
                </a:lnTo>
                <a:lnTo>
                  <a:pt x="1511553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43196" y="4408050"/>
            <a:ext cx="12401607" cy="131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8"/>
              </a:lnSpc>
              <a:spcBef>
                <a:spcPct val="0"/>
              </a:spcBef>
            </a:pPr>
            <a:r>
              <a:rPr lang="en-US" b="true" sz="7670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DATA PREPROCESSING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611018" y="186513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954381" y="-1960413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51265"/>
            <a:ext cx="1403198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DUPLICATE RECORDS CHECK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85276"/>
            <a:ext cx="16230600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Checked dataset for duplicate rows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Result: 0 duplicates found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06875"/>
            <a:ext cx="1403198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DATE COLUMN CONVERSION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29225"/>
            <a:ext cx="16230600" cy="3079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3853" indent="-391927" lvl="1">
              <a:lnSpc>
                <a:spcPts val="6208"/>
              </a:lnSpc>
              <a:buFont typeface="Arial"/>
              <a:buChar char="•"/>
            </a:pPr>
            <a:r>
              <a:rPr lang="en-US" sz="36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Date column was originally stored in object/string format </a:t>
            </a:r>
          </a:p>
          <a:p>
            <a:pPr algn="l" marL="783853" indent="-391927" lvl="1">
              <a:lnSpc>
                <a:spcPts val="6208"/>
              </a:lnSpc>
              <a:buFont typeface="Arial"/>
              <a:buChar char="•"/>
            </a:pPr>
            <a:r>
              <a:rPr lang="en-US" sz="36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Converted Date column to proper datetime format</a:t>
            </a:r>
          </a:p>
          <a:p>
            <a:pPr algn="l" marL="777240" indent="-388620" lvl="1">
              <a:lnSpc>
                <a:spcPts val="6156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Handled mixed date formats present in the data</a:t>
            </a:r>
          </a:p>
          <a:p>
            <a:pPr algn="l" marL="783853" indent="-391927" lvl="1">
              <a:lnSpc>
                <a:spcPts val="6208"/>
              </a:lnSpc>
              <a:buFont typeface="Arial"/>
              <a:buChar char="•"/>
            </a:pPr>
            <a:r>
              <a:rPr lang="en-US" sz="36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Ensured day-first format interpretation for correct date parsing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611018" y="186513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954381" y="-1960413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15496158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MISSING VALUES IDENTIFICATIONS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4622" y="3844989"/>
            <a:ext cx="6227101" cy="451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b="true" sz="300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HYDRAULIC PRESSURE (BAR) = 10</a:t>
            </a:r>
          </a:p>
          <a:p>
            <a:pPr algn="l">
              <a:lnSpc>
                <a:spcPts val="6017"/>
              </a:lnSpc>
            </a:pPr>
            <a:r>
              <a:rPr lang="en-US" b="true" sz="300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COOLANT PRESSURE (BAR) = 19</a:t>
            </a:r>
          </a:p>
          <a:p>
            <a:pPr algn="l">
              <a:lnSpc>
                <a:spcPts val="6017"/>
              </a:lnSpc>
            </a:pPr>
            <a:r>
              <a:rPr lang="en-US" b="true" sz="300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AIR SYSTEM PRESSURE (BAR) = 17 </a:t>
            </a:r>
          </a:p>
          <a:p>
            <a:pPr algn="l">
              <a:lnSpc>
                <a:spcPts val="6017"/>
              </a:lnSpc>
            </a:pPr>
            <a:r>
              <a:rPr lang="en-US" b="true" sz="300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COOLANT TEMPERATURE = 12</a:t>
            </a:r>
          </a:p>
          <a:p>
            <a:pPr algn="l">
              <a:lnSpc>
                <a:spcPts val="6017"/>
              </a:lnSpc>
            </a:pPr>
            <a:r>
              <a:rPr lang="en-US" b="true" sz="300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VOLTAGE (VOLTS) = 6</a:t>
            </a:r>
          </a:p>
          <a:p>
            <a:pPr algn="l">
              <a:lnSpc>
                <a:spcPts val="6017"/>
              </a:lnSpc>
            </a:pPr>
            <a:r>
              <a:rPr lang="en-US" b="true" sz="300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TORQUE (NM) = 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622" y="2265546"/>
            <a:ext cx="16014678" cy="126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7B8FF"/>
                </a:solidFill>
                <a:latin typeface="Roboto Bold"/>
                <a:ea typeface="Roboto Bold"/>
                <a:cs typeface="Roboto Bold"/>
                <a:sym typeface="Roboto Bold"/>
              </a:rPr>
              <a:t>MISSING VALUES PRESENT ONLY IN NUMERIC/SENSOR COLUMNS. AFFECTED COLUMNS: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934723"/>
            <a:ext cx="7105121" cy="434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b="true" sz="29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SPINDLE VIBRATION (ΜM) = 11</a:t>
            </a:r>
          </a:p>
          <a:p>
            <a:pPr algn="l">
              <a:lnSpc>
                <a:spcPts val="5800"/>
              </a:lnSpc>
            </a:pPr>
            <a:r>
              <a:rPr lang="en-US" b="true" sz="29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TOOL VIBRATION (ΜM) = 11</a:t>
            </a:r>
          </a:p>
          <a:p>
            <a:pPr algn="l">
              <a:lnSpc>
                <a:spcPts val="5800"/>
              </a:lnSpc>
            </a:pPr>
            <a:r>
              <a:rPr lang="en-US" b="true" sz="29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SPINDLE SPEED (RPM) = 6</a:t>
            </a:r>
          </a:p>
          <a:p>
            <a:pPr algn="l">
              <a:lnSpc>
                <a:spcPts val="5800"/>
              </a:lnSpc>
            </a:pPr>
            <a:r>
              <a:rPr lang="en-US" b="true" sz="29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HYDRAULIC OIL TEMPERATURE (°C) = 16</a:t>
            </a:r>
          </a:p>
          <a:p>
            <a:pPr algn="l">
              <a:lnSpc>
                <a:spcPts val="5800"/>
              </a:lnSpc>
            </a:pPr>
            <a:r>
              <a:rPr lang="en-US" b="true" sz="29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SPINDLE BEARING TEMPERATURE (°C) = 7</a:t>
            </a:r>
          </a:p>
          <a:p>
            <a:pPr algn="l">
              <a:lnSpc>
                <a:spcPts val="5800"/>
              </a:lnSpc>
            </a:pPr>
            <a:r>
              <a:rPr lang="en-US" b="true" sz="29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CUTTING (KN) = 7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611018" y="186513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888184" y="-213694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1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1" y="10001905"/>
                </a:lnTo>
                <a:lnTo>
                  <a:pt x="1511553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15496158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STRATEGIC IMPUTATION METHODOLGY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87169"/>
            <a:ext cx="7748079" cy="490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5743" indent="-297871" lvl="1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Group-wise median imputation was applied to numeric columns, with the median calculated based on the simultaneous grouping factors of Machine_ID and Downtime status.</a:t>
            </a:r>
          </a:p>
          <a:p>
            <a:pPr algn="just">
              <a:lnSpc>
                <a:spcPts val="3863"/>
              </a:lnSpc>
            </a:pPr>
          </a:p>
          <a:p>
            <a:pPr algn="just" marL="595743" indent="-297871" lvl="1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Each missing value filled with the median of its corresponding group </a:t>
            </a:r>
          </a:p>
          <a:p>
            <a:pPr algn="just">
              <a:lnSpc>
                <a:spcPts val="3863"/>
              </a:lnSpc>
            </a:pPr>
          </a:p>
          <a:p>
            <a:pPr algn="just" marL="595743" indent="-297871" lvl="1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</a:t>
            </a:r>
            <a:r>
              <a:rPr lang="en-US" sz="27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serves variation across machines and downtime status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323110" y="2303018"/>
            <a:ext cx="7936190" cy="6811603"/>
          </a:xfrm>
          <a:custGeom>
            <a:avLst/>
            <a:gdLst/>
            <a:ahLst/>
            <a:cxnLst/>
            <a:rect r="r" b="b" t="t" l="l"/>
            <a:pathLst>
              <a:path h="6811603" w="7936190">
                <a:moveTo>
                  <a:pt x="0" y="0"/>
                </a:moveTo>
                <a:lnTo>
                  <a:pt x="7936190" y="0"/>
                </a:lnTo>
                <a:lnTo>
                  <a:pt x="7936190" y="6811603"/>
                </a:lnTo>
                <a:lnTo>
                  <a:pt x="0" y="6811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4" t="0" r="-514" b="-2182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683946" y="-4858405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1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1" y="10001905"/>
                </a:lnTo>
                <a:lnTo>
                  <a:pt x="15115531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1485" y="4654763"/>
            <a:ext cx="9062099" cy="977474"/>
          </a:xfrm>
          <a:custGeom>
            <a:avLst/>
            <a:gdLst/>
            <a:ahLst/>
            <a:cxnLst/>
            <a:rect r="r" b="b" t="t" l="l"/>
            <a:pathLst>
              <a:path h="977474" w="9062099">
                <a:moveTo>
                  <a:pt x="0" y="0"/>
                </a:moveTo>
                <a:lnTo>
                  <a:pt x="9062099" y="0"/>
                </a:lnTo>
                <a:lnTo>
                  <a:pt x="9062099" y="977474"/>
                </a:lnTo>
                <a:lnTo>
                  <a:pt x="0" y="977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709" r="0" b="-4270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57865" y="3954353"/>
            <a:ext cx="11989477" cy="12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DATA VISUALIZATION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683946" y="-4858405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1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1" y="10001905"/>
                </a:lnTo>
                <a:lnTo>
                  <a:pt x="15115531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1485" y="4654763"/>
            <a:ext cx="9062099" cy="977474"/>
          </a:xfrm>
          <a:custGeom>
            <a:avLst/>
            <a:gdLst/>
            <a:ahLst/>
            <a:cxnLst/>
            <a:rect r="r" b="b" t="t" l="l"/>
            <a:pathLst>
              <a:path h="977474" w="9062099">
                <a:moveTo>
                  <a:pt x="0" y="0"/>
                </a:moveTo>
                <a:lnTo>
                  <a:pt x="9062099" y="0"/>
                </a:lnTo>
                <a:lnTo>
                  <a:pt x="9062099" y="977474"/>
                </a:lnTo>
                <a:lnTo>
                  <a:pt x="0" y="977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709" r="0" b="-4270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79579" y="3949135"/>
            <a:ext cx="11989477" cy="12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FEATURE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796100" y="-5696183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7350" y="3891171"/>
            <a:ext cx="1009858" cy="1009858"/>
          </a:xfrm>
          <a:custGeom>
            <a:avLst/>
            <a:gdLst/>
            <a:ahLst/>
            <a:cxnLst/>
            <a:rect r="r" b="b" t="t" l="l"/>
            <a:pathLst>
              <a:path h="1009858" w="1009858">
                <a:moveTo>
                  <a:pt x="0" y="0"/>
                </a:moveTo>
                <a:lnTo>
                  <a:pt x="1009858" y="0"/>
                </a:lnTo>
                <a:lnTo>
                  <a:pt x="1009858" y="1009858"/>
                </a:lnTo>
                <a:lnTo>
                  <a:pt x="0" y="1009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0679" y="5196304"/>
            <a:ext cx="1009858" cy="1009858"/>
          </a:xfrm>
          <a:custGeom>
            <a:avLst/>
            <a:gdLst/>
            <a:ahLst/>
            <a:cxnLst/>
            <a:rect r="r" b="b" t="t" l="l"/>
            <a:pathLst>
              <a:path h="1009858" w="1009858">
                <a:moveTo>
                  <a:pt x="0" y="0"/>
                </a:moveTo>
                <a:lnTo>
                  <a:pt x="1009858" y="0"/>
                </a:lnTo>
                <a:lnTo>
                  <a:pt x="1009858" y="1009858"/>
                </a:lnTo>
                <a:lnTo>
                  <a:pt x="0" y="1009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5777" y="7685827"/>
            <a:ext cx="1009858" cy="1009858"/>
          </a:xfrm>
          <a:custGeom>
            <a:avLst/>
            <a:gdLst/>
            <a:ahLst/>
            <a:cxnLst/>
            <a:rect r="r" b="b" t="t" l="l"/>
            <a:pathLst>
              <a:path h="1009858" w="1009858">
                <a:moveTo>
                  <a:pt x="0" y="0"/>
                </a:moveTo>
                <a:lnTo>
                  <a:pt x="1009858" y="0"/>
                </a:lnTo>
                <a:lnTo>
                  <a:pt x="1009858" y="1009858"/>
                </a:lnTo>
                <a:lnTo>
                  <a:pt x="0" y="1009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40362" y="2302611"/>
            <a:ext cx="2748816" cy="2748816"/>
          </a:xfrm>
          <a:custGeom>
            <a:avLst/>
            <a:gdLst/>
            <a:ahLst/>
            <a:cxnLst/>
            <a:rect r="r" b="b" t="t" l="l"/>
            <a:pathLst>
              <a:path h="2748816" w="2748816">
                <a:moveTo>
                  <a:pt x="0" y="0"/>
                </a:moveTo>
                <a:lnTo>
                  <a:pt x="2748815" y="0"/>
                </a:lnTo>
                <a:lnTo>
                  <a:pt x="2748815" y="2748815"/>
                </a:lnTo>
                <a:lnTo>
                  <a:pt x="0" y="27488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62264" y="266191"/>
            <a:ext cx="2137181" cy="2137181"/>
          </a:xfrm>
          <a:custGeom>
            <a:avLst/>
            <a:gdLst/>
            <a:ahLst/>
            <a:cxnLst/>
            <a:rect r="r" b="b" t="t" l="l"/>
            <a:pathLst>
              <a:path h="2137181" w="2137181">
                <a:moveTo>
                  <a:pt x="0" y="0"/>
                </a:moveTo>
                <a:lnTo>
                  <a:pt x="2137181" y="0"/>
                </a:lnTo>
                <a:lnTo>
                  <a:pt x="2137181" y="2137181"/>
                </a:lnTo>
                <a:lnTo>
                  <a:pt x="0" y="21371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89177" y="5701233"/>
            <a:ext cx="1825831" cy="1825831"/>
          </a:xfrm>
          <a:custGeom>
            <a:avLst/>
            <a:gdLst/>
            <a:ahLst/>
            <a:cxnLst/>
            <a:rect r="r" b="b" t="t" l="l"/>
            <a:pathLst>
              <a:path h="1825831" w="1825831">
                <a:moveTo>
                  <a:pt x="0" y="0"/>
                </a:moveTo>
                <a:lnTo>
                  <a:pt x="1825831" y="0"/>
                </a:lnTo>
                <a:lnTo>
                  <a:pt x="1825831" y="1825831"/>
                </a:lnTo>
                <a:lnTo>
                  <a:pt x="0" y="18258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0679" y="265061"/>
            <a:ext cx="3340775" cy="10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3"/>
              </a:lnSpc>
              <a:spcBef>
                <a:spcPct val="0"/>
              </a:spcBef>
            </a:pPr>
            <a:r>
              <a:rPr lang="en-US" b="true" sz="625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FEATURE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7350" y="1210957"/>
            <a:ext cx="7202005" cy="104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5"/>
              </a:lnSpc>
              <a:spcBef>
                <a:spcPct val="0"/>
              </a:spcBef>
            </a:pPr>
            <a:r>
              <a:rPr lang="en-US" b="true" sz="6061">
                <a:solidFill>
                  <a:srgbClr val="27B8FF"/>
                </a:solidFill>
                <a:latin typeface="Roboto Bold"/>
                <a:ea typeface="Roboto Bold"/>
                <a:cs typeface="Roboto Bold"/>
                <a:sym typeface="Roboto Bold"/>
              </a:rPr>
              <a:t>ENGINEERING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5914" y="2336697"/>
            <a:ext cx="627864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Preparing raw manufacturing data for machine learning models.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2106" y="3769782"/>
            <a:ext cx="6537875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i="true">
                <a:solidFill>
                  <a:srgbClr val="FFFFF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Rem</a:t>
            </a:r>
            <a:r>
              <a:rPr lang="en-US" sz="2800" i="true">
                <a:solidFill>
                  <a:srgbClr val="FFFFF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oved Date column as it was no longer required for modeling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2106" y="5105926"/>
            <a:ext cx="6349238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Enc</a:t>
            </a: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oded target variable (Downtime) into binary format: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5635" y="6320681"/>
            <a:ext cx="4014430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Failure →  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0537" y="6935361"/>
            <a:ext cx="4470678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Machine Failure →  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2546" y="7654816"/>
            <a:ext cx="7341454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Appli</a:t>
            </a: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 One-Hot Encoding on categorical features: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2686" y="8749030"/>
            <a:ext cx="3596283" cy="99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Machine_ID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Assembly_Line_No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71865" y="2219056"/>
            <a:ext cx="191797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Date Column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6413510" y="-5729829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0068" y="832051"/>
            <a:ext cx="7663767" cy="1316508"/>
          </a:xfrm>
          <a:custGeom>
            <a:avLst/>
            <a:gdLst/>
            <a:ahLst/>
            <a:cxnLst/>
            <a:rect r="r" b="b" t="t" l="l"/>
            <a:pathLst>
              <a:path h="1316508" w="7663767">
                <a:moveTo>
                  <a:pt x="0" y="0"/>
                </a:moveTo>
                <a:lnTo>
                  <a:pt x="7663767" y="0"/>
                </a:lnTo>
                <a:lnTo>
                  <a:pt x="7663767" y="1316508"/>
                </a:lnTo>
                <a:lnTo>
                  <a:pt x="0" y="1316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45" t="0" r="-2445" b="-2212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6592" y="708226"/>
            <a:ext cx="9511443" cy="109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0"/>
              </a:lnSpc>
              <a:spcBef>
                <a:spcPct val="0"/>
              </a:spcBef>
            </a:pPr>
            <a:r>
              <a:rPr lang="en-US" b="true" sz="6379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TRAIN-TEST SPLIT.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3842" y="2198991"/>
            <a:ext cx="5479299" cy="2597645"/>
            <a:chOff x="0" y="0"/>
            <a:chExt cx="1443107" cy="684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3107" cy="684153"/>
            </a:xfrm>
            <a:custGeom>
              <a:avLst/>
              <a:gdLst/>
              <a:ahLst/>
              <a:cxnLst/>
              <a:rect r="r" b="b" t="t" l="l"/>
              <a:pathLst>
                <a:path h="684153" w="1443107">
                  <a:moveTo>
                    <a:pt x="39562" y="0"/>
                  </a:moveTo>
                  <a:lnTo>
                    <a:pt x="1403545" y="0"/>
                  </a:lnTo>
                  <a:cubicBezTo>
                    <a:pt x="1425395" y="0"/>
                    <a:pt x="1443107" y="17713"/>
                    <a:pt x="1443107" y="39562"/>
                  </a:cubicBezTo>
                  <a:lnTo>
                    <a:pt x="1443107" y="644591"/>
                  </a:lnTo>
                  <a:cubicBezTo>
                    <a:pt x="1443107" y="666441"/>
                    <a:pt x="1425395" y="684153"/>
                    <a:pt x="1403545" y="684153"/>
                  </a:cubicBezTo>
                  <a:lnTo>
                    <a:pt x="39562" y="684153"/>
                  </a:lnTo>
                  <a:cubicBezTo>
                    <a:pt x="17713" y="684153"/>
                    <a:pt x="0" y="666441"/>
                    <a:pt x="0" y="644591"/>
                  </a:cubicBezTo>
                  <a:lnTo>
                    <a:pt x="0" y="39562"/>
                  </a:lnTo>
                  <a:cubicBezTo>
                    <a:pt x="0" y="17713"/>
                    <a:pt x="17713" y="0"/>
                    <a:pt x="395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43107" cy="722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74061" y="5730086"/>
            <a:ext cx="5531198" cy="2432103"/>
            <a:chOff x="0" y="0"/>
            <a:chExt cx="1456776" cy="6405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56776" cy="640554"/>
            </a:xfrm>
            <a:custGeom>
              <a:avLst/>
              <a:gdLst/>
              <a:ahLst/>
              <a:cxnLst/>
              <a:rect r="r" b="b" t="t" l="l"/>
              <a:pathLst>
                <a:path h="640554" w="1456776">
                  <a:moveTo>
                    <a:pt x="39191" y="0"/>
                  </a:moveTo>
                  <a:lnTo>
                    <a:pt x="1417585" y="0"/>
                  </a:lnTo>
                  <a:cubicBezTo>
                    <a:pt x="1427979" y="0"/>
                    <a:pt x="1437948" y="4129"/>
                    <a:pt x="1445298" y="11479"/>
                  </a:cubicBezTo>
                  <a:cubicBezTo>
                    <a:pt x="1452647" y="18829"/>
                    <a:pt x="1456776" y="28797"/>
                    <a:pt x="1456776" y="39191"/>
                  </a:cubicBezTo>
                  <a:lnTo>
                    <a:pt x="1456776" y="601363"/>
                  </a:lnTo>
                  <a:cubicBezTo>
                    <a:pt x="1456776" y="623007"/>
                    <a:pt x="1439230" y="640554"/>
                    <a:pt x="1417585" y="640554"/>
                  </a:cubicBezTo>
                  <a:lnTo>
                    <a:pt x="39191" y="640554"/>
                  </a:lnTo>
                  <a:cubicBezTo>
                    <a:pt x="17546" y="640554"/>
                    <a:pt x="0" y="623007"/>
                    <a:pt x="0" y="601363"/>
                  </a:cubicBezTo>
                  <a:lnTo>
                    <a:pt x="0" y="39191"/>
                  </a:lnTo>
                  <a:cubicBezTo>
                    <a:pt x="0" y="17546"/>
                    <a:pt x="17546" y="0"/>
                    <a:pt x="39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56776" cy="678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57726" y="5799547"/>
            <a:ext cx="5328541" cy="2435520"/>
            <a:chOff x="0" y="0"/>
            <a:chExt cx="1403402" cy="641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3402" cy="641454"/>
            </a:xfrm>
            <a:custGeom>
              <a:avLst/>
              <a:gdLst/>
              <a:ahLst/>
              <a:cxnLst/>
              <a:rect r="r" b="b" t="t" l="l"/>
              <a:pathLst>
                <a:path h="641454" w="1403402">
                  <a:moveTo>
                    <a:pt x="40682" y="0"/>
                  </a:moveTo>
                  <a:lnTo>
                    <a:pt x="1362720" y="0"/>
                  </a:lnTo>
                  <a:cubicBezTo>
                    <a:pt x="1373510" y="0"/>
                    <a:pt x="1383857" y="4286"/>
                    <a:pt x="1391486" y="11915"/>
                  </a:cubicBezTo>
                  <a:cubicBezTo>
                    <a:pt x="1399116" y="19545"/>
                    <a:pt x="1403402" y="29892"/>
                    <a:pt x="1403402" y="40682"/>
                  </a:cubicBezTo>
                  <a:lnTo>
                    <a:pt x="1403402" y="600772"/>
                  </a:lnTo>
                  <a:cubicBezTo>
                    <a:pt x="1403402" y="623240"/>
                    <a:pt x="1385188" y="641454"/>
                    <a:pt x="1362720" y="641454"/>
                  </a:cubicBezTo>
                  <a:lnTo>
                    <a:pt x="40682" y="641454"/>
                  </a:lnTo>
                  <a:cubicBezTo>
                    <a:pt x="18214" y="641454"/>
                    <a:pt x="0" y="623240"/>
                    <a:pt x="0" y="600772"/>
                  </a:cubicBezTo>
                  <a:lnTo>
                    <a:pt x="0" y="40682"/>
                  </a:lnTo>
                  <a:cubicBezTo>
                    <a:pt x="0" y="18214"/>
                    <a:pt x="18214" y="0"/>
                    <a:pt x="406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03402" cy="67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82039" y="2176024"/>
            <a:ext cx="5612260" cy="2597645"/>
            <a:chOff x="0" y="0"/>
            <a:chExt cx="1478126" cy="6841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8126" cy="684153"/>
            </a:xfrm>
            <a:custGeom>
              <a:avLst/>
              <a:gdLst/>
              <a:ahLst/>
              <a:cxnLst/>
              <a:rect r="r" b="b" t="t" l="l"/>
              <a:pathLst>
                <a:path h="684153" w="1478126">
                  <a:moveTo>
                    <a:pt x="38625" y="0"/>
                  </a:moveTo>
                  <a:lnTo>
                    <a:pt x="1439501" y="0"/>
                  </a:lnTo>
                  <a:cubicBezTo>
                    <a:pt x="1449745" y="0"/>
                    <a:pt x="1459570" y="4069"/>
                    <a:pt x="1466813" y="11313"/>
                  </a:cubicBezTo>
                  <a:cubicBezTo>
                    <a:pt x="1474057" y="18557"/>
                    <a:pt x="1478126" y="28381"/>
                    <a:pt x="1478126" y="38625"/>
                  </a:cubicBezTo>
                  <a:lnTo>
                    <a:pt x="1478126" y="645528"/>
                  </a:lnTo>
                  <a:cubicBezTo>
                    <a:pt x="1478126" y="666860"/>
                    <a:pt x="1460833" y="684153"/>
                    <a:pt x="1439501" y="684153"/>
                  </a:cubicBezTo>
                  <a:lnTo>
                    <a:pt x="38625" y="684153"/>
                  </a:lnTo>
                  <a:cubicBezTo>
                    <a:pt x="17293" y="684153"/>
                    <a:pt x="0" y="666860"/>
                    <a:pt x="0" y="645528"/>
                  </a:cubicBezTo>
                  <a:lnTo>
                    <a:pt x="0" y="38625"/>
                  </a:lnTo>
                  <a:cubicBezTo>
                    <a:pt x="0" y="17293"/>
                    <a:pt x="17293" y="0"/>
                    <a:pt x="386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78126" cy="722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64369" y="2257086"/>
            <a:ext cx="5229652" cy="2435520"/>
            <a:chOff x="0" y="0"/>
            <a:chExt cx="1377357" cy="6414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7357" cy="641454"/>
            </a:xfrm>
            <a:custGeom>
              <a:avLst/>
              <a:gdLst/>
              <a:ahLst/>
              <a:cxnLst/>
              <a:rect r="r" b="b" t="t" l="l"/>
              <a:pathLst>
                <a:path h="641454" w="1377357">
                  <a:moveTo>
                    <a:pt x="41451" y="0"/>
                  </a:moveTo>
                  <a:lnTo>
                    <a:pt x="1335906" y="0"/>
                  </a:lnTo>
                  <a:cubicBezTo>
                    <a:pt x="1358799" y="0"/>
                    <a:pt x="1377357" y="18558"/>
                    <a:pt x="1377357" y="41451"/>
                  </a:cubicBezTo>
                  <a:lnTo>
                    <a:pt x="1377357" y="600003"/>
                  </a:lnTo>
                  <a:cubicBezTo>
                    <a:pt x="1377357" y="622896"/>
                    <a:pt x="1358799" y="641454"/>
                    <a:pt x="1335906" y="641454"/>
                  </a:cubicBezTo>
                  <a:lnTo>
                    <a:pt x="41451" y="641454"/>
                  </a:lnTo>
                  <a:cubicBezTo>
                    <a:pt x="18558" y="641454"/>
                    <a:pt x="0" y="622896"/>
                    <a:pt x="0" y="600003"/>
                  </a:cubicBezTo>
                  <a:lnTo>
                    <a:pt x="0" y="41451"/>
                  </a:lnTo>
                  <a:cubicBezTo>
                    <a:pt x="0" y="18558"/>
                    <a:pt x="18558" y="0"/>
                    <a:pt x="414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77357" cy="67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22010" y="2659613"/>
            <a:ext cx="49029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Separated dataset into Features (X) and Target (y).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682052" y="2903346"/>
            <a:ext cx="506508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Split data into training and testing sets 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51599" y="2671876"/>
            <a:ext cx="454061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Used 80% data for training and 20% for testing.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52512" y="6202919"/>
            <a:ext cx="5166415" cy="156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Applied stratified splitting to maintain class balance between train and test sets.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58035" y="6393687"/>
            <a:ext cx="4862430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Fixed random state used for reproducibility of result.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579195" y="6616807"/>
            <a:ext cx="3523080" cy="3670193"/>
          </a:xfrm>
          <a:custGeom>
            <a:avLst/>
            <a:gdLst/>
            <a:ahLst/>
            <a:cxnLst/>
            <a:rect r="r" b="b" t="t" l="l"/>
            <a:pathLst>
              <a:path h="3670193" w="3523080">
                <a:moveTo>
                  <a:pt x="0" y="0"/>
                </a:moveTo>
                <a:lnTo>
                  <a:pt x="3523080" y="0"/>
                </a:lnTo>
                <a:lnTo>
                  <a:pt x="3523080" y="3670193"/>
                </a:lnTo>
                <a:lnTo>
                  <a:pt x="0" y="3670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</a:blip>
            <a:stretch>
              <a:fillRect l="-2087" t="0" r="-2087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452512" y="2802378"/>
            <a:ext cx="5639720" cy="114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4"/>
              </a:lnSpc>
              <a:spcBef>
                <a:spcPct val="0"/>
              </a:spcBef>
            </a:pPr>
            <a:r>
              <a:rPr lang="en-US" b="true" sz="649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→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58035" y="2881486"/>
            <a:ext cx="5394032" cy="108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8"/>
              </a:lnSpc>
              <a:spcBef>
                <a:spcPct val="0"/>
              </a:spcBef>
            </a:pPr>
            <a:r>
              <a:rPr lang="en-US" b="true" sz="6213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→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72372" y="6215400"/>
            <a:ext cx="6263432" cy="12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0"/>
              </a:lnSpc>
              <a:spcBef>
                <a:spcPct val="0"/>
              </a:spcBef>
            </a:pPr>
            <a:r>
              <a:rPr lang="en-US" b="true" sz="721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→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683946" y="-4858405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1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1" y="10001905"/>
                </a:lnTo>
                <a:lnTo>
                  <a:pt x="15115531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1485" y="4654763"/>
            <a:ext cx="9062099" cy="977474"/>
          </a:xfrm>
          <a:custGeom>
            <a:avLst/>
            <a:gdLst/>
            <a:ahLst/>
            <a:cxnLst/>
            <a:rect r="r" b="b" t="t" l="l"/>
            <a:pathLst>
              <a:path h="977474" w="9062099">
                <a:moveTo>
                  <a:pt x="0" y="0"/>
                </a:moveTo>
                <a:lnTo>
                  <a:pt x="9062099" y="0"/>
                </a:lnTo>
                <a:lnTo>
                  <a:pt x="9062099" y="977474"/>
                </a:lnTo>
                <a:lnTo>
                  <a:pt x="0" y="977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709" r="0" b="-4270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73819" y="3949135"/>
            <a:ext cx="14854011" cy="12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4"/>
              </a:lnSpc>
              <a:spcBef>
                <a:spcPct val="0"/>
              </a:spcBef>
            </a:pPr>
            <a:r>
              <a:rPr lang="en-US" b="true" sz="7438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MACHINE LEARNING MODEL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81388" y="309382"/>
            <a:ext cx="7468457" cy="4953771"/>
          </a:xfrm>
          <a:custGeom>
            <a:avLst/>
            <a:gdLst/>
            <a:ahLst/>
            <a:cxnLst/>
            <a:rect r="r" b="b" t="t" l="l"/>
            <a:pathLst>
              <a:path h="4953771" w="7468457">
                <a:moveTo>
                  <a:pt x="0" y="0"/>
                </a:moveTo>
                <a:lnTo>
                  <a:pt x="7468457" y="0"/>
                </a:lnTo>
                <a:lnTo>
                  <a:pt x="7468457" y="4953771"/>
                </a:lnTo>
                <a:lnTo>
                  <a:pt x="0" y="4953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538" r="0" b="-3097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85242" y="4673002"/>
            <a:ext cx="6363007" cy="3187593"/>
            <a:chOff x="0" y="0"/>
            <a:chExt cx="1675854" cy="8395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5854" cy="839531"/>
            </a:xfrm>
            <a:custGeom>
              <a:avLst/>
              <a:gdLst/>
              <a:ahLst/>
              <a:cxnLst/>
              <a:rect r="r" b="b" t="t" l="l"/>
              <a:pathLst>
                <a:path h="839531" w="1675854">
                  <a:moveTo>
                    <a:pt x="34068" y="0"/>
                  </a:moveTo>
                  <a:lnTo>
                    <a:pt x="1641786" y="0"/>
                  </a:lnTo>
                  <a:cubicBezTo>
                    <a:pt x="1660601" y="0"/>
                    <a:pt x="1675854" y="15253"/>
                    <a:pt x="1675854" y="34068"/>
                  </a:cubicBezTo>
                  <a:lnTo>
                    <a:pt x="1675854" y="805463"/>
                  </a:lnTo>
                  <a:cubicBezTo>
                    <a:pt x="1675854" y="814498"/>
                    <a:pt x="1672264" y="823164"/>
                    <a:pt x="1665875" y="829553"/>
                  </a:cubicBezTo>
                  <a:cubicBezTo>
                    <a:pt x="1659486" y="835942"/>
                    <a:pt x="1650821" y="839531"/>
                    <a:pt x="1641786" y="839531"/>
                  </a:cubicBezTo>
                  <a:lnTo>
                    <a:pt x="34068" y="839531"/>
                  </a:lnTo>
                  <a:cubicBezTo>
                    <a:pt x="25032" y="839531"/>
                    <a:pt x="16367" y="835942"/>
                    <a:pt x="9978" y="829553"/>
                  </a:cubicBezTo>
                  <a:cubicBezTo>
                    <a:pt x="3589" y="823164"/>
                    <a:pt x="0" y="814498"/>
                    <a:pt x="0" y="805463"/>
                  </a:cubicBezTo>
                  <a:lnTo>
                    <a:pt x="0" y="34068"/>
                  </a:lnTo>
                  <a:cubicBezTo>
                    <a:pt x="0" y="25032"/>
                    <a:pt x="3589" y="16367"/>
                    <a:pt x="9978" y="9978"/>
                  </a:cubicBezTo>
                  <a:cubicBezTo>
                    <a:pt x="16367" y="3589"/>
                    <a:pt x="25032" y="0"/>
                    <a:pt x="340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75854" cy="877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481388" y="5397434"/>
            <a:ext cx="7468457" cy="4677856"/>
          </a:xfrm>
          <a:custGeom>
            <a:avLst/>
            <a:gdLst/>
            <a:ahLst/>
            <a:cxnLst/>
            <a:rect r="r" b="b" t="t" l="l"/>
            <a:pathLst>
              <a:path h="4677856" w="7468457">
                <a:moveTo>
                  <a:pt x="0" y="0"/>
                </a:moveTo>
                <a:lnTo>
                  <a:pt x="7468457" y="0"/>
                </a:lnTo>
                <a:lnTo>
                  <a:pt x="7468457" y="4677856"/>
                </a:lnTo>
                <a:lnTo>
                  <a:pt x="0" y="4677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08" r="0" b="-2696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8561" y="1609688"/>
            <a:ext cx="10662028" cy="222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161" indent="-302580" lvl="1">
              <a:lnSpc>
                <a:spcPts val="4484"/>
              </a:lnSpc>
              <a:buFont typeface="Arial"/>
              <a:buChar char="•"/>
            </a:pPr>
            <a:r>
              <a:rPr lang="en-US" b="true" sz="28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Trained a random forest classifier on the training dataset.</a:t>
            </a:r>
          </a:p>
          <a:p>
            <a:pPr algn="l" marL="605161" indent="-302580" lvl="1">
              <a:lnSpc>
                <a:spcPts val="4484"/>
              </a:lnSpc>
              <a:buFont typeface="Arial"/>
              <a:buChar char="•"/>
            </a:pPr>
            <a:r>
              <a:rPr lang="en-US" b="true" sz="28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Used 200 decision trees (estimators) for building the model.</a:t>
            </a:r>
          </a:p>
          <a:p>
            <a:pPr algn="l" marL="605161" indent="-302580" lvl="1">
              <a:lnSpc>
                <a:spcPts val="4484"/>
              </a:lnSpc>
              <a:buFont typeface="Arial"/>
              <a:buChar char="•"/>
            </a:pPr>
            <a:r>
              <a:rPr lang="en-US" b="true" sz="28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Fixed random state used for reproducibility of results.</a:t>
            </a:r>
          </a:p>
          <a:p>
            <a:pPr algn="l" marL="605161" indent="-302580" lvl="1">
              <a:lnSpc>
                <a:spcPts val="4484"/>
              </a:lnSpc>
              <a:buFont typeface="Arial"/>
              <a:buChar char="•"/>
            </a:pPr>
            <a:r>
              <a:rPr lang="en-US" b="true" sz="28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Parallel processing enabled for faster training.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4659" y="4864034"/>
            <a:ext cx="460960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uracy →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98.80%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2163" y="5383221"/>
            <a:ext cx="4609608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Precision→ 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98.05%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Recall→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99.60%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F1-Score →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98.82%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ROC-AUC→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99.97%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242" y="8384470"/>
            <a:ext cx="1008065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Model shows excellent and well-balanced performance across all metrics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0336" y="300306"/>
            <a:ext cx="9289657" cy="104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5"/>
              </a:lnSpc>
              <a:spcBef>
                <a:spcPct val="0"/>
              </a:spcBef>
            </a:pPr>
            <a:r>
              <a:rPr lang="en-US" b="true" sz="6061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Roboto Bold"/>
                <a:ea typeface="Roboto Bold"/>
                <a:cs typeface="Roboto Bold"/>
                <a:sym typeface="Roboto Bold"/>
              </a:rPr>
              <a:t>RANDOM FOREST MODEL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6818144" y="3267866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1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1" y="10001905"/>
                </a:lnTo>
                <a:lnTo>
                  <a:pt x="1511553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249761" y="-469122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677802" y="5477960"/>
            <a:ext cx="5289474" cy="480695"/>
            <a:chOff x="0" y="0"/>
            <a:chExt cx="1393113" cy="1266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3113" cy="126603"/>
            </a:xfrm>
            <a:custGeom>
              <a:avLst/>
              <a:gdLst/>
              <a:ahLst/>
              <a:cxnLst/>
              <a:rect r="r" b="b" t="t" l="l"/>
              <a:pathLst>
                <a:path h="126603" w="1393113">
                  <a:moveTo>
                    <a:pt x="0" y="0"/>
                  </a:moveTo>
                  <a:lnTo>
                    <a:pt x="1393113" y="0"/>
                  </a:lnTo>
                  <a:lnTo>
                    <a:pt x="1393113" y="126603"/>
                  </a:lnTo>
                  <a:lnTo>
                    <a:pt x="0" y="1266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93113" cy="17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65050" y="91779"/>
            <a:ext cx="14934989" cy="278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b="true" sz="5300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Roboto Bold"/>
                <a:ea typeface="Roboto Bold"/>
                <a:cs typeface="Roboto Bold"/>
                <a:sym typeface="Roboto Bold"/>
              </a:rPr>
              <a:t>FEATURE </a:t>
            </a:r>
          </a:p>
          <a:p>
            <a:pPr algn="l">
              <a:lnSpc>
                <a:spcPts val="7420"/>
              </a:lnSpc>
            </a:pPr>
            <a:r>
              <a:rPr lang="en-US" b="true" sz="5300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Roboto Bold"/>
                <a:ea typeface="Roboto Bold"/>
                <a:cs typeface="Roboto Bold"/>
                <a:sym typeface="Roboto Bold"/>
              </a:rPr>
              <a:t>IMPORTANCE ANALYSIS</a:t>
            </a:r>
          </a:p>
          <a:p>
            <a:pPr algn="l">
              <a:lnSpc>
                <a:spcPts val="74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65050" y="2001041"/>
            <a:ext cx="1418633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Identified t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 features contributing to model's prediction using Random Forest's feature importance.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5050" y="3191666"/>
            <a:ext cx="1276328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 4 features dominate the model's decision-making, together accounting for over 84% importance: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52113" y="4541202"/>
            <a:ext cx="2428042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3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orque (Nm)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6937" y="4468016"/>
            <a:ext cx="78474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Pattanakarn SemiCondensed"/>
                <a:ea typeface="Pattanakarn SemiCondensed"/>
                <a:cs typeface="Pattanakarn SemiCondensed"/>
                <a:sym typeface="Pattanakarn SemiCondensed"/>
              </a:rPr>
              <a:t>⚙️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52113" y="5414190"/>
            <a:ext cx="473773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Hydraulic Pressure (bar)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4609" y="5205910"/>
            <a:ext cx="889397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🔧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31727" y="6304460"/>
            <a:ext cx="360866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</a:t>
            </a:r>
            <a:r>
              <a:rPr lang="en-US" sz="3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utting Force (kN)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1882" y="6192700"/>
            <a:ext cx="802124" cy="788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b="true" sz="4600">
                <a:solidFill>
                  <a:srgbClr val="FFFF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✂️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89413" y="7194730"/>
            <a:ext cx="453818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</a:t>
            </a:r>
            <a:r>
              <a:rPr lang="en-US" sz="3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olant Pressure (bar)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2182" y="7047409"/>
            <a:ext cx="1165503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b="true" sz="4600">
                <a:solidFill>
                  <a:srgbClr val="FFFF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 💧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677802" y="6287950"/>
            <a:ext cx="5104090" cy="480695"/>
            <a:chOff x="0" y="0"/>
            <a:chExt cx="1344287" cy="1266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287" cy="126603"/>
            </a:xfrm>
            <a:custGeom>
              <a:avLst/>
              <a:gdLst/>
              <a:ahLst/>
              <a:cxnLst/>
              <a:rect r="r" b="b" t="t" l="l"/>
              <a:pathLst>
                <a:path h="126603" w="1344287">
                  <a:moveTo>
                    <a:pt x="0" y="0"/>
                  </a:moveTo>
                  <a:lnTo>
                    <a:pt x="1344287" y="0"/>
                  </a:lnTo>
                  <a:lnTo>
                    <a:pt x="1344287" y="126603"/>
                  </a:lnTo>
                  <a:lnTo>
                    <a:pt x="0" y="1266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44287" cy="17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77802" y="7248704"/>
            <a:ext cx="4350537" cy="480695"/>
            <a:chOff x="0" y="0"/>
            <a:chExt cx="1145820" cy="1266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5820" cy="126603"/>
            </a:xfrm>
            <a:custGeom>
              <a:avLst/>
              <a:gdLst/>
              <a:ahLst/>
              <a:cxnLst/>
              <a:rect r="r" b="b" t="t" l="l"/>
              <a:pathLst>
                <a:path h="126603" w="1145820">
                  <a:moveTo>
                    <a:pt x="0" y="0"/>
                  </a:moveTo>
                  <a:lnTo>
                    <a:pt x="1145820" y="0"/>
                  </a:lnTo>
                  <a:lnTo>
                    <a:pt x="1145820" y="126603"/>
                  </a:lnTo>
                  <a:lnTo>
                    <a:pt x="0" y="1266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145820" cy="17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77802" y="4624885"/>
            <a:ext cx="5773583" cy="480695"/>
            <a:chOff x="0" y="0"/>
            <a:chExt cx="1520614" cy="1266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0614" cy="126603"/>
            </a:xfrm>
            <a:custGeom>
              <a:avLst/>
              <a:gdLst/>
              <a:ahLst/>
              <a:cxnLst/>
              <a:rect r="r" b="b" t="t" l="l"/>
              <a:pathLst>
                <a:path h="126603" w="1520614">
                  <a:moveTo>
                    <a:pt x="0" y="0"/>
                  </a:moveTo>
                  <a:lnTo>
                    <a:pt x="1520614" y="0"/>
                  </a:lnTo>
                  <a:lnTo>
                    <a:pt x="1520614" y="126603"/>
                  </a:lnTo>
                  <a:lnTo>
                    <a:pt x="0" y="1266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520614" cy="17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1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566865" y="4548685"/>
            <a:ext cx="126634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24.95%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93327" y="5401760"/>
            <a:ext cx="136124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21.60%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54633" y="6211750"/>
            <a:ext cx="136124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20.83%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05978" y="7172504"/>
            <a:ext cx="136124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16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.74%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47148" y="8149769"/>
            <a:ext cx="13570468" cy="207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Spindle Speed (RPM) also shows m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oderate importance → 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7.96%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Indicates that mechanical and pressure-related parameters are the strongest indicators of machine downtime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57389" y="5397434"/>
            <a:ext cx="6363007" cy="3187593"/>
            <a:chOff x="0" y="0"/>
            <a:chExt cx="1675854" cy="8395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75854" cy="839531"/>
            </a:xfrm>
            <a:custGeom>
              <a:avLst/>
              <a:gdLst/>
              <a:ahLst/>
              <a:cxnLst/>
              <a:rect r="r" b="b" t="t" l="l"/>
              <a:pathLst>
                <a:path h="839531" w="1675854">
                  <a:moveTo>
                    <a:pt x="34068" y="0"/>
                  </a:moveTo>
                  <a:lnTo>
                    <a:pt x="1641786" y="0"/>
                  </a:lnTo>
                  <a:cubicBezTo>
                    <a:pt x="1660601" y="0"/>
                    <a:pt x="1675854" y="15253"/>
                    <a:pt x="1675854" y="34068"/>
                  </a:cubicBezTo>
                  <a:lnTo>
                    <a:pt x="1675854" y="805463"/>
                  </a:lnTo>
                  <a:cubicBezTo>
                    <a:pt x="1675854" y="814498"/>
                    <a:pt x="1672264" y="823164"/>
                    <a:pt x="1665875" y="829553"/>
                  </a:cubicBezTo>
                  <a:cubicBezTo>
                    <a:pt x="1659486" y="835942"/>
                    <a:pt x="1650821" y="839531"/>
                    <a:pt x="1641786" y="839531"/>
                  </a:cubicBezTo>
                  <a:lnTo>
                    <a:pt x="34068" y="839531"/>
                  </a:lnTo>
                  <a:cubicBezTo>
                    <a:pt x="25032" y="839531"/>
                    <a:pt x="16367" y="835942"/>
                    <a:pt x="9978" y="829553"/>
                  </a:cubicBezTo>
                  <a:cubicBezTo>
                    <a:pt x="3589" y="823164"/>
                    <a:pt x="0" y="814498"/>
                    <a:pt x="0" y="805463"/>
                  </a:cubicBezTo>
                  <a:lnTo>
                    <a:pt x="0" y="34068"/>
                  </a:lnTo>
                  <a:cubicBezTo>
                    <a:pt x="0" y="25032"/>
                    <a:pt x="3589" y="16367"/>
                    <a:pt x="9978" y="9978"/>
                  </a:cubicBezTo>
                  <a:cubicBezTo>
                    <a:pt x="16367" y="3589"/>
                    <a:pt x="25032" y="0"/>
                    <a:pt x="340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4FF">
                    <a:alpha val="100000"/>
                  </a:srgbClr>
                </a:gs>
                <a:gs pos="100000">
                  <a:srgbClr val="003257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75854" cy="877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57362" y="309382"/>
            <a:ext cx="7480285" cy="5088052"/>
          </a:xfrm>
          <a:custGeom>
            <a:avLst/>
            <a:gdLst/>
            <a:ahLst/>
            <a:cxnLst/>
            <a:rect r="r" b="b" t="t" l="l"/>
            <a:pathLst>
              <a:path h="5088052" w="7480285">
                <a:moveTo>
                  <a:pt x="0" y="0"/>
                </a:moveTo>
                <a:lnTo>
                  <a:pt x="7480284" y="0"/>
                </a:lnTo>
                <a:lnTo>
                  <a:pt x="7480284" y="5088052"/>
                </a:lnTo>
                <a:lnTo>
                  <a:pt x="0" y="5088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968" r="0" b="-4421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57362" y="5554763"/>
            <a:ext cx="7480285" cy="5432640"/>
          </a:xfrm>
          <a:custGeom>
            <a:avLst/>
            <a:gdLst/>
            <a:ahLst/>
            <a:cxnLst/>
            <a:rect r="r" b="b" t="t" l="l"/>
            <a:pathLst>
              <a:path h="5432640" w="7480285">
                <a:moveTo>
                  <a:pt x="0" y="0"/>
                </a:moveTo>
                <a:lnTo>
                  <a:pt x="7480284" y="0"/>
                </a:lnTo>
                <a:lnTo>
                  <a:pt x="7480284" y="5432639"/>
                </a:lnTo>
                <a:lnTo>
                  <a:pt x="0" y="5432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44" r="0" b="-374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4666" y="1217863"/>
            <a:ext cx="10662028" cy="433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571" indent="-291786" lvl="1">
              <a:lnSpc>
                <a:spcPts val="4324"/>
              </a:lnSpc>
              <a:buFont typeface="Arial"/>
              <a:buChar char="•"/>
            </a:pPr>
            <a:r>
              <a:rPr lang="en-US" b="true" sz="27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Trained an XGBoost Classifier on the training dataset </a:t>
            </a:r>
          </a:p>
          <a:p>
            <a:pPr algn="l" marL="583571" indent="-291786" lvl="1">
              <a:lnSpc>
                <a:spcPts val="4324"/>
              </a:lnSpc>
              <a:buFont typeface="Arial"/>
              <a:buChar char="•"/>
            </a:pPr>
            <a:r>
              <a:rPr lang="en-US" b="true" sz="27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Used 200 boosting rounds (estimators) </a:t>
            </a:r>
            <a:r>
              <a:rPr lang="en-US" b="true" sz="27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Fixed random state used for reproducibility of results.</a:t>
            </a:r>
          </a:p>
          <a:p>
            <a:pPr algn="l" marL="583571" indent="-291786" lvl="1">
              <a:lnSpc>
                <a:spcPts val="4324"/>
              </a:lnSpc>
              <a:buFont typeface="Arial"/>
              <a:buChar char="•"/>
            </a:pPr>
            <a:r>
              <a:rPr lang="en-US" b="true" sz="27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Maximum tree depth set to 6</a:t>
            </a:r>
          </a:p>
          <a:p>
            <a:pPr algn="l" marL="583571" indent="-291786" lvl="1">
              <a:lnSpc>
                <a:spcPts val="4324"/>
              </a:lnSpc>
              <a:buFont typeface="Arial"/>
              <a:buChar char="•"/>
            </a:pPr>
            <a:r>
              <a:rPr lang="en-US" b="true" sz="27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Learning rate set to 0.1 for controlled and stable learning </a:t>
            </a:r>
          </a:p>
          <a:p>
            <a:pPr algn="l" marL="583571" indent="-291786" lvl="1">
              <a:lnSpc>
                <a:spcPts val="4324"/>
              </a:lnSpc>
              <a:buFont typeface="Arial"/>
              <a:buChar char="•"/>
            </a:pPr>
            <a:r>
              <a:rPr lang="en-US" b="true" sz="27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Log loss used as evaluation metric during training</a:t>
            </a:r>
          </a:p>
          <a:p>
            <a:pPr algn="l" marL="583571" indent="-291786" lvl="1">
              <a:lnSpc>
                <a:spcPts val="4324"/>
              </a:lnSpc>
              <a:buFont typeface="Arial"/>
              <a:buChar char="•"/>
            </a:pPr>
            <a:r>
              <a:rPr lang="en-US" b="true" sz="27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Fixed random state used for reproducibility of results</a:t>
            </a:r>
          </a:p>
          <a:p>
            <a:pPr algn="l">
              <a:lnSpc>
                <a:spcPts val="4484"/>
              </a:lnSpc>
            </a:pPr>
            <a:r>
              <a:rPr lang="en-US" b="true" sz="28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34089" y="5619631"/>
            <a:ext cx="4609608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Accuracy→  </a:t>
            </a:r>
            <a:r>
              <a:rPr lang="en-US" sz="3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98.80%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Precision→ 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98.05%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Recall →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99.60%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F1 Score →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98.82%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ROC-AUC Score →  </a:t>
            </a: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99.98%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558" y="8847122"/>
            <a:ext cx="1008065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Model shows excellent and well-balanced performance across all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558" y="185557"/>
            <a:ext cx="9289657" cy="212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b="true" sz="6061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Roboto Bold"/>
                <a:ea typeface="Roboto Bold"/>
                <a:cs typeface="Roboto Bold"/>
                <a:sym typeface="Roboto Bold"/>
              </a:rPr>
              <a:t>XGBOOST MODEL</a:t>
            </a:r>
          </a:p>
          <a:p>
            <a:pPr algn="l">
              <a:lnSpc>
                <a:spcPts val="84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275448" y="3408458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1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1" y="10001905"/>
                </a:lnTo>
                <a:lnTo>
                  <a:pt x="1511553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249761" y="-469122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5050" y="91779"/>
            <a:ext cx="14934989" cy="278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b="true" sz="5300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Roboto Bold"/>
                <a:ea typeface="Roboto Bold"/>
                <a:cs typeface="Roboto Bold"/>
                <a:sym typeface="Roboto Bold"/>
              </a:rPr>
              <a:t>FEATURE </a:t>
            </a:r>
          </a:p>
          <a:p>
            <a:pPr algn="l">
              <a:lnSpc>
                <a:spcPts val="7420"/>
              </a:lnSpc>
            </a:pPr>
            <a:r>
              <a:rPr lang="en-US" b="true" sz="5300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Roboto Bold"/>
                <a:ea typeface="Roboto Bold"/>
                <a:cs typeface="Roboto Bold"/>
                <a:sym typeface="Roboto Bold"/>
              </a:rPr>
              <a:t>IMPORTANCE ANALYSIS</a:t>
            </a:r>
          </a:p>
          <a:p>
            <a:pPr algn="l">
              <a:lnSpc>
                <a:spcPts val="742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5050" y="2001041"/>
            <a:ext cx="1418633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Identified t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 features contributing to model’s prediction using XGBoost's feature importance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7685" y="3443547"/>
            <a:ext cx="41808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Hyd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raulic Pressure (bar)</a:t>
            </a: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2563" y="3255905"/>
            <a:ext cx="889397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🔧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75448" y="3519747"/>
            <a:ext cx="5773583" cy="480695"/>
            <a:chOff x="0" y="0"/>
            <a:chExt cx="1520614" cy="1266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0614" cy="126603"/>
            </a:xfrm>
            <a:custGeom>
              <a:avLst/>
              <a:gdLst/>
              <a:ahLst/>
              <a:cxnLst/>
              <a:rect r="r" b="b" t="t" l="l"/>
              <a:pathLst>
                <a:path h="126603" w="1520614">
                  <a:moveTo>
                    <a:pt x="0" y="0"/>
                  </a:moveTo>
                  <a:lnTo>
                    <a:pt x="1520614" y="0"/>
                  </a:lnTo>
                  <a:lnTo>
                    <a:pt x="1520614" y="126603"/>
                  </a:lnTo>
                  <a:lnTo>
                    <a:pt x="0" y="1266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20614" cy="17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310474" y="3467042"/>
            <a:ext cx="126634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44.32%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7261" y="4736089"/>
            <a:ext cx="13549562" cy="274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7"/>
              </a:lnSpc>
            </a:pPr>
            <a:r>
              <a:rPr lang="en-US" sz="31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Dominant Predictor: Hydraulic_Pressure emerges as the primary leading indicator, accounting for 44.32% of the model's decision-making weight.</a:t>
            </a:r>
          </a:p>
          <a:p>
            <a:pPr algn="ctr">
              <a:lnSpc>
                <a:spcPts val="4397"/>
              </a:lnSpc>
            </a:pPr>
          </a:p>
          <a:p>
            <a:pPr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Secondary Mechanical Drivers: Torque and Cutting_Force follow in significance, contributing 21.40% and 15.16% respectively.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529955" y="200699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436415" y="-2286112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09943" y="4473190"/>
            <a:ext cx="7429269" cy="131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8"/>
              </a:lnSpc>
              <a:spcBef>
                <a:spcPct val="0"/>
              </a:spcBef>
            </a:pPr>
            <a:r>
              <a:rPr lang="en-US" b="true" sz="7670">
                <a:gradFill>
                  <a:gsLst>
                    <a:gs pos="0">
                      <a:srgbClr val="0094FF">
                        <a:alpha val="100000"/>
                      </a:srgbClr>
                    </a:gs>
                    <a:gs pos="100000">
                      <a:srgbClr val="003257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CONCLUSION.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611018" y="186513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0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0" y="10001905"/>
                </a:lnTo>
                <a:lnTo>
                  <a:pt x="1511553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888184" y="-2136940"/>
            <a:ext cx="15115530" cy="10001905"/>
          </a:xfrm>
          <a:custGeom>
            <a:avLst/>
            <a:gdLst/>
            <a:ahLst/>
            <a:cxnLst/>
            <a:rect r="r" b="b" t="t" l="l"/>
            <a:pathLst>
              <a:path h="10001905" w="15115530">
                <a:moveTo>
                  <a:pt x="15115531" y="0"/>
                </a:moveTo>
                <a:lnTo>
                  <a:pt x="0" y="0"/>
                </a:lnTo>
                <a:lnTo>
                  <a:pt x="0" y="10001905"/>
                </a:lnTo>
                <a:lnTo>
                  <a:pt x="15115531" y="10001905"/>
                </a:lnTo>
                <a:lnTo>
                  <a:pt x="1511553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03393" y="3697634"/>
            <a:ext cx="13281215" cy="260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7"/>
              </a:lnSpc>
              <a:spcBef>
                <a:spcPct val="0"/>
              </a:spcBef>
            </a:pPr>
            <a:r>
              <a:rPr lang="en-US" b="true" sz="15340">
                <a:solidFill>
                  <a:srgbClr val="27B8FF"/>
                </a:solidFill>
                <a:latin typeface="Pattanakarn SemiCondensed Semi-Bold"/>
                <a:ea typeface="Pattanakarn SemiCondensed Semi-Bold"/>
                <a:cs typeface="Pattanakarn SemiCondensed Semi-Bold"/>
                <a:sym typeface="Pattanakarn SemiCondensed Semi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DAHO7jvdq44</dc:identifier>
  <dcterms:modified xsi:type="dcterms:W3CDTF">2011-08-01T06:04:30Z</dcterms:modified>
  <cp:revision>1</cp:revision>
  <dc:title>DEPI</dc:title>
</cp:coreProperties>
</file>